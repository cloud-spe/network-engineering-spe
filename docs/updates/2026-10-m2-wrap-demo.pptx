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ere M2 landed" id="{3140b5a0-db0f-05ed-174a-94036d0e013e}">
          <p14:sldIdLst>
            <p14:sldId id="256"/>
          </p14:sldIdLst>
        </p14:section>
        <p14:section name="What builder core is" id="{46e7c05c-d5a9-ab3a-84fd-cac06c672233}">
          <p14:sldIdLst>
            <p14:sldId id="257"/>
            <p14:sldId id="258"/>
            <p14:sldId id="259"/>
            <p14:sldId id="260"/>
            <p14:sldId id="261"/>
          </p14:sldIdLst>
        </p14:section>
        <p14:section name="Into M3" id="{c230a249-5dc7-d532-2c2e-baebe5b7025a}">
          <p14:sldIdLst>
            <p14:sldId id="262"/>
            <p14:sldId id="263"/>
          </p14:sldIdLst>
        </p14:section>
        <p14:section name="Demos" id="{2b25d8b8-fb5a-d744-f969-ae4ab7a3dbbd}">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wrap for milestone 2 of the Build Track: what we set out to build, what we proved on the network, and two apps that use it. About 10 minutes of slides, then two live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track's accepted baseline defines seven outcomes: what any builder must be able to do without becoming a Livepeer expert. Get one credential, with payment keys kept out of their hands. Discover what the network offers. Understand the rate before running anything. Invoke a capability, over REST or inside their own app. Get a result, or a failure they can understand. Pay without holding crypto: an operator funds the network side and each user spends from an allocation. And see their usage and what it was charged. M2 built and tested the engine pieces behind each one; M3's gate is a single funded journey that shows all seven end to end. Retail prices, customer accounts and invoices stay in the enterprise's own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Builder core is a shared engine, not an app. An enterprise app keeps its own users and prices; builder core handles the Livepeer side: who is allowed to run jobs and spend which allocation, finding a runner and paying it, and attributing every network charge to the job that caused it, including jobs that failed after paying. It ships as one Python package you can import, or run as a REST service. The two demos at the end use it each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to remember. On top, the apps: John's desk talks to builder core over REST, ChatLPT imports it, and your app can do either. In the middle, builder core. Underneath, the Livepeer stack that already exists, which we did not replace: the Python SDK calls an orchestrator's runner, asking the remote signer (livepeer/node) to sign each payment; the signer charges the actor's allocation in Clearinghouse Batteries. The orange dashed line is the part builder core adds on the way back: it reads Batteries' usage feed and matches every charge to the job that caused it, which is what makes per-job cost and reconciliation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track depends on three upstream projects: the node remote signer, Clearinghouse Batteries and the Livepeer Python SDK. Where we hit a gap we filed it with evidence. Node issue 1 was fixed by Josh and is in v1.0.2. SDK PR 77 adds payment-session reporting and is in review; builder core pins our fork until it merges. Node issue 2 (self-signed certificates) was declined upstream, so the dev stack pins the orchestrators' certificates. And on SDK issue 74 Josh pushed back on our first design, which read the signer's private state to identify a payment; we switched to the session's ManifestID, which is what PR 77 now does. The signer, Batteries and engine all deploy to Railway.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GitHub organizations hold the code. NE-Build-Track is ours: builder core, John's enterprise desk and ChatLPT, plus forks of the three upstream projects we depend on (the node remote signer, Clearinghouse Batteries and the Python SDK), each tagged build-track/v0.1.0 at the exact revision we tested so any build can be reproduced. The livepeer organization is upstream: fixes we need go there first, and our forks follow. The milestones and tickets are on the project board linked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M3's gate is a single minimum-app journey that demonstrates all seven outcomes with funded execution and correlated cost evidence, due 20 November. Already moving: streaming through the engine is built and shown live, waiting for review; the two apps you just saw are the reference-app candidates; and ChatLPT now reads network cost straight from the engine. Carried from M2 by agreement: the final idempotency semantics (John's PR), getting SDK PR 77 merged so we can drop our fork pin, a caller-owned payment reference so a manifest is only a label, and two attribution cases we have tests for but have not yet shown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for questions. Pointers if asked: the evidence pages for the live runs are under docs/references/evidence/ in livepeer-builder-core, and its README explains how to run the engine embedded or as a REST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apps on the same engine. John demos first (REST): 1) sign in with the admin key and open Operator; 2) provision an actor from the grant and issue its key, shown once; 3) sign in as that actor and run one paid job from an offering; 4) show its cost class and the actor's reconciliation (Batteries spent = delivered + failed after payment + uncertain); optionally the ISS-04 page, which runs the M2 payment checks live. [desk URL]
Then Mike (embedded): 1) sign in, ask a question, let the reply stream; 2) point at the line under it: tokens, retail at Alibaba's Qwen list price, network cost going from pending to filled in from the engine; 3) ask it to draw something: the model calls the image tool and the engine pays an orchestrator running FLUX schnell; 4) open Usage in the profile menu, then the admin page for retail vs network per user and the margin. Say clearly that streaming comes from builder-core work for M3 that is in review, not from the M2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3E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800" y="812800"/>
            <a:ext cx="10566400" cy="254000"/>
          </a:xfrm>
          <a:prstGeom prst="rect">
            <a:avLst/>
          </a:prstGeom>
          <a:noFill/>
          <a:ln/>
        </p:spPr>
        <p:txBody>
          <a:bodyPr wrap="square" rtlCol="0"/>
          <a:lstStyle>
            <a:lvl1pPr algn="l" indent="0" marL="0">
              <a:buNone/>
              <a:defRPr lang="en-US" sz="1200" spc="2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812800" y="1117600"/>
            <a:ext cx="10566400" cy="95250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LT">
    <p:bg>
      <p:bgPr>
        <a:solidFill>
          <a:srgbClr val="ECE9E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800" y="812800"/>
            <a:ext cx="10566400" cy="254000"/>
          </a:xfrm>
          <a:prstGeom prst="rect">
            <a:avLst/>
          </a:prstGeom>
          <a:noFill/>
          <a:ln/>
        </p:spPr>
        <p:txBody>
          <a:bodyPr wrap="square" rtlCol="0"/>
          <a:lstStyle>
            <a:lvl1pPr algn="l" indent="0" marL="0">
              <a:buNone/>
              <a:defRPr lang="en-US" sz="1200" spc="2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812800" y="1117600"/>
            <a:ext cx="10566400" cy="95250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21821"/>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AL">
    <p:bg>
      <p:bgPr>
        <a:solidFill>
          <a:srgbClr val="16705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800" y="812800"/>
            <a:ext cx="10566400" cy="254000"/>
          </a:xfrm>
          <a:prstGeom prst="rect">
            <a:avLst/>
          </a:prstGeom>
          <a:noFill/>
          <a:ln/>
        </p:spPr>
        <p:txBody>
          <a:bodyPr wrap="square" rtlCol="0"/>
          <a:lstStyle>
            <a:lvl1pPr algn="l" indent="0" marL="0">
              <a:buNone/>
              <a:defRPr lang="en-US" sz="1200" spc="200" kern="0" dirty="0">
                <a:solidFill>
                  <a:schemeClr val="accent4"/>
                </a:solidFill>
              </a:defRPr>
            </a:lvl1pPr>
          </a:lstStyle>
          <a:p>
            <a:pPr algn="l" indent="0" marL="0">
              <a:buNone/>
            </a:pPr>
            <a:endParaRPr lang="en-US" sz="1200" dirty="0"/>
          </a:p>
        </p:txBody>
      </p:sp>
      <p:sp>
        <p:nvSpPr>
          <p:cNvPr id="3" name="Text 0"/>
          <p:cNvSpPr/>
          <p:nvPr>
            <p:ph idx="101" type="title" hasCustomPrompt="1"/>
          </p:nvPr>
        </p:nvSpPr>
        <p:spPr>
          <a:xfrm>
            <a:off x="812800" y="1117600"/>
            <a:ext cx="10566400" cy="95250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AGRAM">
    <p:bg>
      <p:bgPr>
        <a:solidFill>
          <a:srgbClr val="ECE9E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812800"/>
            <a:ext cx="10566400" cy="95250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orgs/Cloud-SPE/projects/13"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12800" y="812800"/>
            <a:ext cx="10566400" cy="279400"/>
          </a:xfrm>
          <a:prstGeom prst="rect">
            <a:avLst/>
          </a:prstGeom>
          <a:noFill/>
          <a:ln/>
        </p:spPr>
        <p:txBody>
          <a:bodyPr wrap="square" lIns="0" tIns="0" rIns="0" bIns="0" rtlCol="0" anchor="t"/>
          <a:lstStyle/>
          <a:p>
            <a:pPr algn="l" indent="0" marL="0">
              <a:lnSpc>
                <a:spcPct val="115000"/>
              </a:lnSpc>
              <a:buNone/>
            </a:pPr>
            <a:r>
              <a:rPr lang="en-US" sz="1400" spc="200" kern="0" dirty="0">
                <a:solidFill>
                  <a:srgbClr val="E2A23B"/>
                </a:solidFill>
                <a:latin typeface="Courier New" pitchFamily="34" charset="0"/>
                <a:ea typeface="Courier New" pitchFamily="34" charset="-122"/>
                <a:cs typeface="Courier New" pitchFamily="34" charset="-120"/>
              </a:rPr>
              <a:t>NETWORK ENGINEERING SPE · BUILD TRACK</a:t>
            </a:r>
            <a:endParaRPr lang="en-US" sz="1400" dirty="0"/>
          </a:p>
        </p:txBody>
      </p:sp>
      <p:sp>
        <p:nvSpPr>
          <p:cNvPr id="3" name="Text 1"/>
          <p:cNvSpPr txBox="1"/>
          <p:nvPr/>
        </p:nvSpPr>
        <p:spPr>
          <a:xfrm>
            <a:off x="812800" y="2286000"/>
            <a:ext cx="9525000" cy="1651000"/>
          </a:xfrm>
          <a:prstGeom prst="rect">
            <a:avLst/>
          </a:prstGeom>
          <a:noFill/>
          <a:ln/>
        </p:spPr>
        <p:txBody>
          <a:bodyPr wrap="square" lIns="0" tIns="0" rIns="0" bIns="0" rtlCol="0" anchor="t"/>
          <a:lstStyle/>
          <a:p>
            <a:pPr algn="l" indent="0" marL="0">
              <a:lnSpc>
                <a:spcPct val="100000"/>
              </a:lnSpc>
              <a:buNone/>
            </a:pPr>
            <a:r>
              <a:rPr lang="en-US" sz="5600" b="1" dirty="0">
                <a:solidFill>
                  <a:srgbClr val="F2EFE8"/>
                </a:solidFill>
                <a:latin typeface="Arial" pitchFamily="34" charset="0"/>
                <a:ea typeface="Arial" pitchFamily="34" charset="-122"/>
                <a:cs typeface="Arial" pitchFamily="34" charset="-120"/>
              </a:rPr>
              <a:t>M2 wrap: foundation and integration contracts</a:t>
            </a:r>
            <a:endParaRPr lang="en-US" sz="5600" dirty="0"/>
          </a:p>
        </p:txBody>
      </p:sp>
      <p:sp>
        <p:nvSpPr>
          <p:cNvPr id="4" name="Text 2"/>
          <p:cNvSpPr txBox="1"/>
          <p:nvPr/>
        </p:nvSpPr>
        <p:spPr>
          <a:xfrm>
            <a:off x="812800" y="4127500"/>
            <a:ext cx="8890000" cy="762000"/>
          </a:xfrm>
          <a:prstGeom prst="rect">
            <a:avLst/>
          </a:prstGeom>
          <a:noFill/>
          <a:ln/>
        </p:spPr>
        <p:txBody>
          <a:bodyPr wrap="square" lIns="0" tIns="0" rIns="0" bIns="0" rtlCol="0" anchor="t"/>
          <a:lstStyle/>
          <a:p>
            <a:pPr algn="l" indent="0" marL="0">
              <a:lnSpc>
                <a:spcPct val="115000"/>
              </a:lnSpc>
              <a:buNone/>
            </a:pPr>
            <a:r>
              <a:rPr lang="en-US" sz="2000" dirty="0">
                <a:solidFill>
                  <a:srgbClr val="B9C3CF"/>
                </a:solidFill>
                <a:latin typeface="Calibri" pitchFamily="34" charset="0"/>
                <a:ea typeface="Calibri" pitchFamily="34" charset="-122"/>
                <a:cs typeface="Calibri" pitchFamily="34" charset="-120"/>
              </a:rPr>
              <a:t>The builder engine, its contracts, and paid jobs on the live Livepeer network. Plus two apps built on it.</a:t>
            </a:r>
            <a:endParaRPr lang="en-US" sz="2000" dirty="0"/>
          </a:p>
        </p:txBody>
      </p:sp>
      <p:sp>
        <p:nvSpPr>
          <p:cNvPr id="5" name="Text 3"/>
          <p:cNvSpPr txBox="1"/>
          <p:nvPr/>
        </p:nvSpPr>
        <p:spPr>
          <a:xfrm>
            <a:off x="812800" y="5715000"/>
            <a:ext cx="4445000" cy="279400"/>
          </a:xfrm>
          <a:prstGeom prst="rect">
            <a:avLst/>
          </a:prstGeom>
          <a:noFill/>
          <a:ln/>
        </p:spPr>
        <p:txBody>
          <a:bodyPr wrap="square" lIns="0" tIns="0" rIns="0" bIns="0" rtlCol="0" anchor="t"/>
          <a:lstStyle/>
          <a:p>
            <a:pPr algn="l" indent="0" marL="0">
              <a:lnSpc>
                <a:spcPct val="115000"/>
              </a:lnSpc>
              <a:buNone/>
            </a:pPr>
            <a:r>
              <a:rPr lang="en-US" sz="1400" dirty="0">
                <a:solidFill>
                  <a:srgbClr val="B9C3CF"/>
                </a:solidFill>
                <a:latin typeface="Calibri" pitchFamily="34" charset="0"/>
                <a:ea typeface="Calibri" pitchFamily="34" charset="-122"/>
                <a:cs typeface="Calibri" pitchFamily="34" charset="-120"/>
              </a:rPr>
              <a:t>Mike · John · Oct 20 2026</a:t>
            </a:r>
            <a:endParaRPr lang="en-US" sz="1400" dirty="0"/>
          </a:p>
        </p:txBody>
      </p:sp>
      <p:sp>
        <p:nvSpPr>
          <p:cNvPr id="6" name="Text 4"/>
          <p:cNvSpPr txBox="1"/>
          <p:nvPr/>
        </p:nvSpPr>
        <p:spPr>
          <a:xfrm>
            <a:off x="6934200" y="5715000"/>
            <a:ext cx="4445000" cy="279400"/>
          </a:xfrm>
          <a:prstGeom prst="rect">
            <a:avLst/>
          </a:prstGeom>
          <a:noFill/>
          <a:ln/>
        </p:spPr>
        <p:txBody>
          <a:bodyPr wrap="square" lIns="0" tIns="0" rIns="0" bIns="0" rtlCol="0" anchor="t"/>
          <a:lstStyle/>
          <a:p>
            <a:pPr algn="r" indent="0" marL="0">
              <a:lnSpc>
                <a:spcPct val="115000"/>
              </a:lnSpc>
              <a:buNone/>
            </a:pPr>
            <a:r>
              <a:rPr lang="en-US" sz="1400" dirty="0">
                <a:solidFill>
                  <a:srgbClr val="4FD1B5"/>
                </a:solidFill>
                <a:latin typeface="Courier New" pitchFamily="34" charset="0"/>
                <a:ea typeface="Courier New" pitchFamily="34" charset="-122"/>
                <a:cs typeface="Courier New" pitchFamily="34" charset="-120"/>
              </a:rPr>
              <a:t>Closed 19 October · builder core v0.1.0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200" kern="0" dirty="0">
                <a:solidFill>
                  <a:schemeClr val="accent2"/>
                </a:solidFill>
              </a:rPr>
              <a:t>THE GOAL</a:t>
            </a:r>
            <a:endParaRPr lang="en-US" sz="1200" dirty="0"/>
          </a:p>
        </p:txBody>
      </p:sp>
      <p:sp>
        <p:nvSpPr>
          <p:cNvPr id="3" name="Text 0"/>
          <p:cNvSpPr/>
          <p:nvPr>
            <p:ph idx="101" type="title" hasCustomPrompt="1"/>
          </p:nvPr>
        </p:nvSpPr>
        <p:spPr>
          <a:xfrm>
            <a:off x="812800" y="1117600"/>
            <a:ext cx="10566400" cy="9525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Seven things every builder must be able to do</a:t>
            </a:r>
            <a:endParaRPr lang="en-US" sz="3200" dirty="0"/>
          </a:p>
        </p:txBody>
      </p:sp>
      <p:sp>
        <p:nvSpPr>
          <p:cNvPr id="4" name="outcome-1"/>
          <p:cNvSpPr/>
          <p:nvPr/>
        </p:nvSpPr>
        <p:spPr>
          <a:xfrm>
            <a:off x="812800" y="2095500"/>
            <a:ext cx="2527300" cy="1905000"/>
          </a:xfrm>
          <a:prstGeom prst="roundRect">
            <a:avLst>
              <a:gd name="adj" fmla="val 5280"/>
            </a:avLst>
          </a:prstGeom>
          <a:solidFill>
            <a:srgbClr val="FBFAF7"/>
          </a:solidFill>
          <a:ln w="9525">
            <a:solidFill>
              <a:srgbClr val="DDD8CC"/>
            </a:solidFill>
            <a:prstDash val="solid"/>
          </a:ln>
        </p:spPr>
      </p:sp>
      <p:sp>
        <p:nvSpPr>
          <p:cNvPr id="5" name="Text 3"/>
          <p:cNvSpPr txBox="1"/>
          <p:nvPr/>
        </p:nvSpPr>
        <p:spPr>
          <a:xfrm>
            <a:off x="1016000" y="2273300"/>
            <a:ext cx="381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6705F"/>
                </a:solidFill>
                <a:latin typeface="Courier New" pitchFamily="34" charset="0"/>
                <a:ea typeface="Courier New" pitchFamily="34" charset="-122"/>
                <a:cs typeface="Courier New" pitchFamily="34" charset="-120"/>
              </a:rPr>
              <a:t>1</a:t>
            </a:r>
            <a:endParaRPr lang="en-US" sz="1400" dirty="0"/>
          </a:p>
        </p:txBody>
      </p:sp>
      <p:sp>
        <p:nvSpPr>
          <p:cNvPr id="6" name="Text 4"/>
          <p:cNvSpPr txBox="1"/>
          <p:nvPr/>
        </p:nvSpPr>
        <p:spPr>
          <a:xfrm>
            <a:off x="1016000" y="2578100"/>
            <a:ext cx="2120900" cy="571500"/>
          </a:xfrm>
          <a:prstGeom prst="rect">
            <a:avLst/>
          </a:prstGeom>
          <a:noFill/>
          <a:ln/>
        </p:spPr>
        <p:txBody>
          <a:bodyPr wrap="square" lIns="0" tIns="0" rIns="0" bIns="0" rtlCol="0" anchor="t"/>
          <a:lstStyle/>
          <a:p>
            <a:pPr algn="l" indent="0" marL="0">
              <a:lnSpc>
                <a:spcPct val="110000"/>
              </a:lnSpc>
              <a:buNone/>
            </a:pPr>
            <a:r>
              <a:rPr lang="en-US" sz="1600" b="1" dirty="0">
                <a:solidFill>
                  <a:srgbClr val="1B222C"/>
                </a:solidFill>
                <a:latin typeface="Arial" pitchFamily="34" charset="0"/>
                <a:ea typeface="Arial" pitchFamily="34" charset="-122"/>
                <a:cs typeface="Arial" pitchFamily="34" charset="-120"/>
              </a:rPr>
              <a:t>Get one credential</a:t>
            </a:r>
            <a:endParaRPr lang="en-US" sz="1600" dirty="0"/>
          </a:p>
        </p:txBody>
      </p:sp>
      <p:sp>
        <p:nvSpPr>
          <p:cNvPr id="7" name="Text 5"/>
          <p:cNvSpPr txBox="1"/>
          <p:nvPr/>
        </p:nvSpPr>
        <p:spPr>
          <a:xfrm>
            <a:off x="1016000" y="3213100"/>
            <a:ext cx="2120900" cy="635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One key to use the engine; payment keys stay hidden</a:t>
            </a:r>
            <a:endParaRPr lang="en-US" sz="1200" dirty="0"/>
          </a:p>
        </p:txBody>
      </p:sp>
      <p:sp>
        <p:nvSpPr>
          <p:cNvPr id="8" name="outcome-2"/>
          <p:cNvSpPr/>
          <p:nvPr/>
        </p:nvSpPr>
        <p:spPr>
          <a:xfrm>
            <a:off x="3492500" y="2095500"/>
            <a:ext cx="2527300" cy="1905000"/>
          </a:xfrm>
          <a:prstGeom prst="roundRect">
            <a:avLst>
              <a:gd name="adj" fmla="val 5280"/>
            </a:avLst>
          </a:prstGeom>
          <a:solidFill>
            <a:srgbClr val="FBFAF7"/>
          </a:solidFill>
          <a:ln w="9525">
            <a:solidFill>
              <a:srgbClr val="DDD8CC"/>
            </a:solidFill>
            <a:prstDash val="solid"/>
          </a:ln>
        </p:spPr>
      </p:sp>
      <p:sp>
        <p:nvSpPr>
          <p:cNvPr id="9" name="Text 7"/>
          <p:cNvSpPr txBox="1"/>
          <p:nvPr/>
        </p:nvSpPr>
        <p:spPr>
          <a:xfrm>
            <a:off x="3695700" y="2273300"/>
            <a:ext cx="381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6705F"/>
                </a:solidFill>
                <a:latin typeface="Courier New" pitchFamily="34" charset="0"/>
                <a:ea typeface="Courier New" pitchFamily="34" charset="-122"/>
                <a:cs typeface="Courier New" pitchFamily="34" charset="-120"/>
              </a:rPr>
              <a:t>2</a:t>
            </a:r>
            <a:endParaRPr lang="en-US" sz="1400" dirty="0"/>
          </a:p>
        </p:txBody>
      </p:sp>
      <p:sp>
        <p:nvSpPr>
          <p:cNvPr id="10" name="Text 8"/>
          <p:cNvSpPr txBox="1"/>
          <p:nvPr/>
        </p:nvSpPr>
        <p:spPr>
          <a:xfrm>
            <a:off x="3695700" y="2578100"/>
            <a:ext cx="2120900" cy="571500"/>
          </a:xfrm>
          <a:prstGeom prst="rect">
            <a:avLst/>
          </a:prstGeom>
          <a:noFill/>
          <a:ln/>
        </p:spPr>
        <p:txBody>
          <a:bodyPr wrap="square" lIns="0" tIns="0" rIns="0" bIns="0" rtlCol="0" anchor="t"/>
          <a:lstStyle/>
          <a:p>
            <a:pPr algn="l" indent="0" marL="0">
              <a:lnSpc>
                <a:spcPct val="110000"/>
              </a:lnSpc>
              <a:buNone/>
            </a:pPr>
            <a:r>
              <a:rPr lang="en-US" sz="1600" b="1" dirty="0">
                <a:solidFill>
                  <a:srgbClr val="1B222C"/>
                </a:solidFill>
                <a:latin typeface="Arial" pitchFamily="34" charset="0"/>
                <a:ea typeface="Arial" pitchFamily="34" charset="-122"/>
                <a:cs typeface="Arial" pitchFamily="34" charset="-120"/>
              </a:rPr>
              <a:t>Discover capabilities</a:t>
            </a:r>
            <a:endParaRPr lang="en-US" sz="1600" dirty="0"/>
          </a:p>
        </p:txBody>
      </p:sp>
      <p:sp>
        <p:nvSpPr>
          <p:cNvPr id="11" name="Text 9"/>
          <p:cNvSpPr txBox="1"/>
          <p:nvPr/>
        </p:nvSpPr>
        <p:spPr>
          <a:xfrm>
            <a:off x="3695700" y="3213100"/>
            <a:ext cx="2120900" cy="635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See which AI apps the network offers right now</a:t>
            </a:r>
            <a:endParaRPr lang="en-US" sz="1200" dirty="0"/>
          </a:p>
        </p:txBody>
      </p:sp>
      <p:sp>
        <p:nvSpPr>
          <p:cNvPr id="12" name="outcome-3"/>
          <p:cNvSpPr/>
          <p:nvPr/>
        </p:nvSpPr>
        <p:spPr>
          <a:xfrm>
            <a:off x="6172200" y="2095500"/>
            <a:ext cx="2527300" cy="1905000"/>
          </a:xfrm>
          <a:prstGeom prst="roundRect">
            <a:avLst>
              <a:gd name="adj" fmla="val 5280"/>
            </a:avLst>
          </a:prstGeom>
          <a:solidFill>
            <a:srgbClr val="FBFAF7"/>
          </a:solidFill>
          <a:ln w="9525">
            <a:solidFill>
              <a:srgbClr val="DDD8CC"/>
            </a:solidFill>
            <a:prstDash val="solid"/>
          </a:ln>
        </p:spPr>
      </p:sp>
      <p:sp>
        <p:nvSpPr>
          <p:cNvPr id="13" name="Text 11"/>
          <p:cNvSpPr txBox="1"/>
          <p:nvPr/>
        </p:nvSpPr>
        <p:spPr>
          <a:xfrm>
            <a:off x="6375400" y="2273300"/>
            <a:ext cx="381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6705F"/>
                </a:solidFill>
                <a:latin typeface="Courier New" pitchFamily="34" charset="0"/>
                <a:ea typeface="Courier New" pitchFamily="34" charset="-122"/>
                <a:cs typeface="Courier New" pitchFamily="34" charset="-120"/>
              </a:rPr>
              <a:t>3</a:t>
            </a:r>
            <a:endParaRPr lang="en-US" sz="1400" dirty="0"/>
          </a:p>
        </p:txBody>
      </p:sp>
      <p:sp>
        <p:nvSpPr>
          <p:cNvPr id="14" name="Text 12"/>
          <p:cNvSpPr txBox="1"/>
          <p:nvPr/>
        </p:nvSpPr>
        <p:spPr>
          <a:xfrm>
            <a:off x="6375400" y="2578100"/>
            <a:ext cx="2120900" cy="571500"/>
          </a:xfrm>
          <a:prstGeom prst="rect">
            <a:avLst/>
          </a:prstGeom>
          <a:noFill/>
          <a:ln/>
        </p:spPr>
        <p:txBody>
          <a:bodyPr wrap="square" lIns="0" tIns="0" rIns="0" bIns="0" rtlCol="0" anchor="t"/>
          <a:lstStyle/>
          <a:p>
            <a:pPr algn="l" indent="0" marL="0">
              <a:lnSpc>
                <a:spcPct val="110000"/>
              </a:lnSpc>
              <a:buNone/>
            </a:pPr>
            <a:r>
              <a:rPr lang="en-US" sz="1600" b="1" dirty="0">
                <a:solidFill>
                  <a:srgbClr val="1B222C"/>
                </a:solidFill>
                <a:latin typeface="Arial" pitchFamily="34" charset="0"/>
                <a:ea typeface="Arial" pitchFamily="34" charset="-122"/>
                <a:cs typeface="Arial" pitchFamily="34" charset="-120"/>
              </a:rPr>
              <a:t>Understand the rate</a:t>
            </a:r>
            <a:endParaRPr lang="en-US" sz="1600" dirty="0"/>
          </a:p>
        </p:txBody>
      </p:sp>
      <p:sp>
        <p:nvSpPr>
          <p:cNvPr id="15" name="Text 13"/>
          <p:cNvSpPr txBox="1"/>
          <p:nvPr/>
        </p:nvSpPr>
        <p:spPr>
          <a:xfrm>
            <a:off x="6375400" y="3213100"/>
            <a:ext cx="2120900" cy="635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Know what a job will cost on the network</a:t>
            </a:r>
            <a:endParaRPr lang="en-US" sz="1200" dirty="0"/>
          </a:p>
        </p:txBody>
      </p:sp>
      <p:sp>
        <p:nvSpPr>
          <p:cNvPr id="16" name="outcome-4"/>
          <p:cNvSpPr/>
          <p:nvPr/>
        </p:nvSpPr>
        <p:spPr>
          <a:xfrm>
            <a:off x="8851900" y="2095500"/>
            <a:ext cx="2527300" cy="1905000"/>
          </a:xfrm>
          <a:prstGeom prst="roundRect">
            <a:avLst>
              <a:gd name="adj" fmla="val 5280"/>
            </a:avLst>
          </a:prstGeom>
          <a:solidFill>
            <a:srgbClr val="FBFAF7"/>
          </a:solidFill>
          <a:ln w="9525">
            <a:solidFill>
              <a:srgbClr val="DDD8CC"/>
            </a:solidFill>
            <a:prstDash val="solid"/>
          </a:ln>
        </p:spPr>
      </p:sp>
      <p:sp>
        <p:nvSpPr>
          <p:cNvPr id="17" name="Text 15"/>
          <p:cNvSpPr txBox="1"/>
          <p:nvPr/>
        </p:nvSpPr>
        <p:spPr>
          <a:xfrm>
            <a:off x="9055100" y="2273300"/>
            <a:ext cx="381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6705F"/>
                </a:solidFill>
                <a:latin typeface="Courier New" pitchFamily="34" charset="0"/>
                <a:ea typeface="Courier New" pitchFamily="34" charset="-122"/>
                <a:cs typeface="Courier New" pitchFamily="34" charset="-120"/>
              </a:rPr>
              <a:t>4</a:t>
            </a:r>
            <a:endParaRPr lang="en-US" sz="1400" dirty="0"/>
          </a:p>
        </p:txBody>
      </p:sp>
      <p:sp>
        <p:nvSpPr>
          <p:cNvPr id="18" name="Text 16"/>
          <p:cNvSpPr txBox="1"/>
          <p:nvPr/>
        </p:nvSpPr>
        <p:spPr>
          <a:xfrm>
            <a:off x="9055100" y="2578100"/>
            <a:ext cx="2120900" cy="571500"/>
          </a:xfrm>
          <a:prstGeom prst="rect">
            <a:avLst/>
          </a:prstGeom>
          <a:noFill/>
          <a:ln/>
        </p:spPr>
        <p:txBody>
          <a:bodyPr wrap="square" lIns="0" tIns="0" rIns="0" bIns="0" rtlCol="0" anchor="t"/>
          <a:lstStyle/>
          <a:p>
            <a:pPr algn="l" indent="0" marL="0">
              <a:lnSpc>
                <a:spcPct val="110000"/>
              </a:lnSpc>
              <a:buNone/>
            </a:pPr>
            <a:r>
              <a:rPr lang="en-US" sz="1600" b="1" dirty="0">
                <a:solidFill>
                  <a:srgbClr val="1B222C"/>
                </a:solidFill>
                <a:latin typeface="Arial" pitchFamily="34" charset="0"/>
                <a:ea typeface="Arial" pitchFamily="34" charset="-122"/>
                <a:cs typeface="Arial" pitchFamily="34" charset="-120"/>
              </a:rPr>
              <a:t>Invoke a capability</a:t>
            </a:r>
            <a:endParaRPr lang="en-US" sz="1600" dirty="0"/>
          </a:p>
        </p:txBody>
      </p:sp>
      <p:sp>
        <p:nvSpPr>
          <p:cNvPr id="19" name="Text 17"/>
          <p:cNvSpPr txBox="1"/>
          <p:nvPr/>
        </p:nvSpPr>
        <p:spPr>
          <a:xfrm>
            <a:off x="9055100" y="3213100"/>
            <a:ext cx="2120900" cy="635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Run a job, over REST or inside the app</a:t>
            </a:r>
            <a:endParaRPr lang="en-US" sz="1200" dirty="0"/>
          </a:p>
        </p:txBody>
      </p:sp>
      <p:sp>
        <p:nvSpPr>
          <p:cNvPr id="20" name="outcome-5"/>
          <p:cNvSpPr/>
          <p:nvPr/>
        </p:nvSpPr>
        <p:spPr>
          <a:xfrm>
            <a:off x="812800" y="4152900"/>
            <a:ext cx="2527300" cy="1905000"/>
          </a:xfrm>
          <a:prstGeom prst="roundRect">
            <a:avLst>
              <a:gd name="adj" fmla="val 5280"/>
            </a:avLst>
          </a:prstGeom>
          <a:solidFill>
            <a:srgbClr val="FBFAF7"/>
          </a:solidFill>
          <a:ln w="9525">
            <a:solidFill>
              <a:srgbClr val="DDD8CC"/>
            </a:solidFill>
            <a:prstDash val="solid"/>
          </a:ln>
        </p:spPr>
      </p:sp>
      <p:sp>
        <p:nvSpPr>
          <p:cNvPr id="21" name="Text 19"/>
          <p:cNvSpPr txBox="1"/>
          <p:nvPr/>
        </p:nvSpPr>
        <p:spPr>
          <a:xfrm>
            <a:off x="1016000" y="4330700"/>
            <a:ext cx="381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6705F"/>
                </a:solidFill>
                <a:latin typeface="Courier New" pitchFamily="34" charset="0"/>
                <a:ea typeface="Courier New" pitchFamily="34" charset="-122"/>
                <a:cs typeface="Courier New" pitchFamily="34" charset="-120"/>
              </a:rPr>
              <a:t>5</a:t>
            </a:r>
            <a:endParaRPr lang="en-US" sz="1400" dirty="0"/>
          </a:p>
        </p:txBody>
      </p:sp>
      <p:sp>
        <p:nvSpPr>
          <p:cNvPr id="22" name="Text 20"/>
          <p:cNvSpPr txBox="1"/>
          <p:nvPr/>
        </p:nvSpPr>
        <p:spPr>
          <a:xfrm>
            <a:off x="1016000" y="4635500"/>
            <a:ext cx="2120900" cy="571500"/>
          </a:xfrm>
          <a:prstGeom prst="rect">
            <a:avLst/>
          </a:prstGeom>
          <a:noFill/>
          <a:ln/>
        </p:spPr>
        <p:txBody>
          <a:bodyPr wrap="square" lIns="0" tIns="0" rIns="0" bIns="0" rtlCol="0" anchor="t"/>
          <a:lstStyle/>
          <a:p>
            <a:pPr algn="l" indent="0" marL="0">
              <a:lnSpc>
                <a:spcPct val="110000"/>
              </a:lnSpc>
              <a:buNone/>
            </a:pPr>
            <a:r>
              <a:rPr lang="en-US" sz="1600" b="1" dirty="0">
                <a:solidFill>
                  <a:srgbClr val="1B222C"/>
                </a:solidFill>
                <a:latin typeface="Arial" pitchFamily="34" charset="0"/>
                <a:ea typeface="Arial" pitchFamily="34" charset="-122"/>
                <a:cs typeface="Arial" pitchFamily="34" charset="-120"/>
              </a:rPr>
              <a:t>Get a result, or a clear failure</a:t>
            </a:r>
            <a:endParaRPr lang="en-US" sz="1600" dirty="0"/>
          </a:p>
        </p:txBody>
      </p:sp>
      <p:sp>
        <p:nvSpPr>
          <p:cNvPr id="23" name="Text 21"/>
          <p:cNvSpPr txBox="1"/>
          <p:nvPr/>
        </p:nvSpPr>
        <p:spPr>
          <a:xfrm>
            <a:off x="1016000" y="5270500"/>
            <a:ext cx="2120900" cy="635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Know what happened, even when a job fails</a:t>
            </a:r>
            <a:endParaRPr lang="en-US" sz="1200" dirty="0"/>
          </a:p>
        </p:txBody>
      </p:sp>
      <p:sp>
        <p:nvSpPr>
          <p:cNvPr id="24" name="outcome-6"/>
          <p:cNvSpPr/>
          <p:nvPr/>
        </p:nvSpPr>
        <p:spPr>
          <a:xfrm>
            <a:off x="3492500" y="4152900"/>
            <a:ext cx="2527300" cy="1905000"/>
          </a:xfrm>
          <a:prstGeom prst="roundRect">
            <a:avLst>
              <a:gd name="adj" fmla="val 5280"/>
            </a:avLst>
          </a:prstGeom>
          <a:solidFill>
            <a:srgbClr val="FBFAF7"/>
          </a:solidFill>
          <a:ln w="9525">
            <a:solidFill>
              <a:srgbClr val="DDD8CC"/>
            </a:solidFill>
            <a:prstDash val="solid"/>
          </a:ln>
        </p:spPr>
      </p:sp>
      <p:sp>
        <p:nvSpPr>
          <p:cNvPr id="25" name="Text 23"/>
          <p:cNvSpPr txBox="1"/>
          <p:nvPr/>
        </p:nvSpPr>
        <p:spPr>
          <a:xfrm>
            <a:off x="3695700" y="4330700"/>
            <a:ext cx="381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6705F"/>
                </a:solidFill>
                <a:latin typeface="Courier New" pitchFamily="34" charset="0"/>
                <a:ea typeface="Courier New" pitchFamily="34" charset="-122"/>
                <a:cs typeface="Courier New" pitchFamily="34" charset="-120"/>
              </a:rPr>
              <a:t>6</a:t>
            </a:r>
            <a:endParaRPr lang="en-US" sz="1400" dirty="0"/>
          </a:p>
        </p:txBody>
      </p:sp>
      <p:sp>
        <p:nvSpPr>
          <p:cNvPr id="26" name="Text 24"/>
          <p:cNvSpPr txBox="1"/>
          <p:nvPr/>
        </p:nvSpPr>
        <p:spPr>
          <a:xfrm>
            <a:off x="3695700" y="4635500"/>
            <a:ext cx="2120900" cy="571500"/>
          </a:xfrm>
          <a:prstGeom prst="rect">
            <a:avLst/>
          </a:prstGeom>
          <a:noFill/>
          <a:ln/>
        </p:spPr>
        <p:txBody>
          <a:bodyPr wrap="square" lIns="0" tIns="0" rIns="0" bIns="0" rtlCol="0" anchor="t"/>
          <a:lstStyle/>
          <a:p>
            <a:pPr algn="l" indent="0" marL="0">
              <a:lnSpc>
                <a:spcPct val="110000"/>
              </a:lnSpc>
              <a:buNone/>
            </a:pPr>
            <a:r>
              <a:rPr lang="en-US" sz="1600" b="1" dirty="0">
                <a:solidFill>
                  <a:srgbClr val="1B222C"/>
                </a:solidFill>
                <a:latin typeface="Arial" pitchFamily="34" charset="0"/>
                <a:ea typeface="Arial" pitchFamily="34" charset="-122"/>
                <a:cs typeface="Arial" pitchFamily="34" charset="-120"/>
              </a:rPr>
              <a:t>Pay without holding crypto</a:t>
            </a:r>
            <a:endParaRPr lang="en-US" sz="1600" dirty="0"/>
          </a:p>
        </p:txBody>
      </p:sp>
      <p:sp>
        <p:nvSpPr>
          <p:cNvPr id="27" name="Text 25"/>
          <p:cNvSpPr txBox="1"/>
          <p:nvPr/>
        </p:nvSpPr>
        <p:spPr>
          <a:xfrm>
            <a:off x="3695700" y="5270500"/>
            <a:ext cx="2120900" cy="635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An operator funds the account; users spend allocations</a:t>
            </a:r>
            <a:endParaRPr lang="en-US" sz="1200" dirty="0"/>
          </a:p>
        </p:txBody>
      </p:sp>
      <p:sp>
        <p:nvSpPr>
          <p:cNvPr id="28" name="outcome-7"/>
          <p:cNvSpPr/>
          <p:nvPr/>
        </p:nvSpPr>
        <p:spPr>
          <a:xfrm>
            <a:off x="6172200" y="4152900"/>
            <a:ext cx="2527300" cy="1905000"/>
          </a:xfrm>
          <a:prstGeom prst="roundRect">
            <a:avLst>
              <a:gd name="adj" fmla="val 5280"/>
            </a:avLst>
          </a:prstGeom>
          <a:solidFill>
            <a:srgbClr val="FBFAF7"/>
          </a:solidFill>
          <a:ln w="9525">
            <a:solidFill>
              <a:srgbClr val="DDD8CC"/>
            </a:solidFill>
            <a:prstDash val="solid"/>
          </a:ln>
        </p:spPr>
      </p:sp>
      <p:sp>
        <p:nvSpPr>
          <p:cNvPr id="29" name="Text 27"/>
          <p:cNvSpPr txBox="1"/>
          <p:nvPr/>
        </p:nvSpPr>
        <p:spPr>
          <a:xfrm>
            <a:off x="6375400" y="4330700"/>
            <a:ext cx="381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6705F"/>
                </a:solidFill>
                <a:latin typeface="Courier New" pitchFamily="34" charset="0"/>
                <a:ea typeface="Courier New" pitchFamily="34" charset="-122"/>
                <a:cs typeface="Courier New" pitchFamily="34" charset="-120"/>
              </a:rPr>
              <a:t>7</a:t>
            </a:r>
            <a:endParaRPr lang="en-US" sz="1400" dirty="0"/>
          </a:p>
        </p:txBody>
      </p:sp>
      <p:sp>
        <p:nvSpPr>
          <p:cNvPr id="30" name="Text 28"/>
          <p:cNvSpPr txBox="1"/>
          <p:nvPr/>
        </p:nvSpPr>
        <p:spPr>
          <a:xfrm>
            <a:off x="6375400" y="4635500"/>
            <a:ext cx="2120900" cy="571500"/>
          </a:xfrm>
          <a:prstGeom prst="rect">
            <a:avLst/>
          </a:prstGeom>
          <a:noFill/>
          <a:ln/>
        </p:spPr>
        <p:txBody>
          <a:bodyPr wrap="square" lIns="0" tIns="0" rIns="0" bIns="0" rtlCol="0" anchor="t"/>
          <a:lstStyle/>
          <a:p>
            <a:pPr algn="l" indent="0" marL="0">
              <a:lnSpc>
                <a:spcPct val="110000"/>
              </a:lnSpc>
              <a:buNone/>
            </a:pPr>
            <a:r>
              <a:rPr lang="en-US" sz="1600" b="1" dirty="0">
                <a:solidFill>
                  <a:srgbClr val="1B222C"/>
                </a:solidFill>
                <a:latin typeface="Arial" pitchFamily="34" charset="0"/>
                <a:ea typeface="Arial" pitchFamily="34" charset="-122"/>
                <a:cs typeface="Arial" pitchFamily="34" charset="-120"/>
              </a:rPr>
              <a:t>See usage and the charge</a:t>
            </a:r>
            <a:endParaRPr lang="en-US" sz="1600" dirty="0"/>
          </a:p>
        </p:txBody>
      </p:sp>
      <p:sp>
        <p:nvSpPr>
          <p:cNvPr id="31" name="Text 29"/>
          <p:cNvSpPr txBox="1"/>
          <p:nvPr/>
        </p:nvSpPr>
        <p:spPr>
          <a:xfrm>
            <a:off x="6375400" y="5270500"/>
            <a:ext cx="2120900" cy="635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Every job’s network cost, reconciled</a:t>
            </a:r>
            <a:endParaRPr lang="en-US" sz="1200" dirty="0"/>
          </a:p>
        </p:txBody>
      </p:sp>
      <p:sp>
        <p:nvSpPr>
          <p:cNvPr id="32" name="outcome-m3"/>
          <p:cNvSpPr/>
          <p:nvPr/>
        </p:nvSpPr>
        <p:spPr>
          <a:xfrm>
            <a:off x="8851900" y="4152900"/>
            <a:ext cx="2527300" cy="1905000"/>
          </a:xfrm>
          <a:prstGeom prst="roundRect">
            <a:avLst>
              <a:gd name="adj" fmla="val 5280"/>
            </a:avLst>
          </a:prstGeom>
          <a:solidFill>
            <a:srgbClr val="16705F"/>
          </a:solidFill>
          <a:ln/>
        </p:spPr>
      </p:sp>
      <p:sp>
        <p:nvSpPr>
          <p:cNvPr id="33" name="Text 31"/>
          <p:cNvSpPr txBox="1"/>
          <p:nvPr/>
        </p:nvSpPr>
        <p:spPr>
          <a:xfrm>
            <a:off x="9055100" y="4406900"/>
            <a:ext cx="2120900" cy="254000"/>
          </a:xfrm>
          <a:prstGeom prst="rect">
            <a:avLst/>
          </a:prstGeom>
          <a:noFill/>
          <a:ln/>
        </p:spPr>
        <p:txBody>
          <a:bodyPr wrap="square" lIns="0" tIns="0" rIns="0" bIns="0" rtlCol="0" anchor="t"/>
          <a:lstStyle/>
          <a:p>
            <a:pPr algn="l" indent="0" marL="0">
              <a:lnSpc>
                <a:spcPct val="115000"/>
              </a:lnSpc>
              <a:buNone/>
            </a:pPr>
            <a:r>
              <a:rPr lang="en-US" sz="1200" dirty="0">
                <a:solidFill>
                  <a:srgbClr val="F6D9A6"/>
                </a:solidFill>
                <a:latin typeface="Courier New" pitchFamily="34" charset="0"/>
                <a:ea typeface="Courier New" pitchFamily="34" charset="-122"/>
                <a:cs typeface="Courier New" pitchFamily="34" charset="-120"/>
              </a:rPr>
              <a:t>M2 → M3</a:t>
            </a:r>
            <a:endParaRPr lang="en-US" sz="1200" dirty="0"/>
          </a:p>
        </p:txBody>
      </p:sp>
      <p:sp>
        <p:nvSpPr>
          <p:cNvPr id="34" name="Text 32"/>
          <p:cNvSpPr txBox="1"/>
          <p:nvPr/>
        </p:nvSpPr>
        <p:spPr>
          <a:xfrm>
            <a:off x="9055100" y="4737100"/>
            <a:ext cx="2120900" cy="1143000"/>
          </a:xfrm>
          <a:prstGeom prst="rect">
            <a:avLst/>
          </a:prstGeom>
          <a:noFill/>
          <a:ln/>
        </p:spPr>
        <p:txBody>
          <a:bodyPr wrap="square" lIns="0" tIns="0" rIns="0" bIns="0" rtlCol="0" anchor="t"/>
          <a:lstStyle/>
          <a:p>
            <a:pPr algn="l" indent="0" marL="0">
              <a:lnSpc>
                <a:spcPct val="115000"/>
              </a:lnSpc>
              <a:buNone/>
            </a:pPr>
            <a:r>
              <a:rPr lang="en-US" sz="1600" b="1" dirty="0">
                <a:solidFill>
                  <a:srgbClr val="F2EFE8"/>
                </a:solidFill>
                <a:latin typeface="Arial" pitchFamily="34" charset="0"/>
                <a:ea typeface="Arial" pitchFamily="34" charset="-122"/>
                <a:cs typeface="Arial" pitchFamily="34" charset="-120"/>
              </a:rPr>
              <a:t>M2 built the engine for all seven. M3 proves them in one funded journey.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200" kern="0" dirty="0">
                <a:solidFill>
                  <a:schemeClr val="accent2"/>
                </a:solidFill>
              </a:rPr>
              <a:t>WHAT M2 BUILT</a:t>
            </a:r>
            <a:endParaRPr lang="en-US" sz="1200" dirty="0"/>
          </a:p>
        </p:txBody>
      </p:sp>
      <p:sp>
        <p:nvSpPr>
          <p:cNvPr id="3" name="Text 0"/>
          <p:cNvSpPr/>
          <p:nvPr>
            <p:ph idx="101" type="title" hasCustomPrompt="1"/>
          </p:nvPr>
        </p:nvSpPr>
        <p:spPr>
          <a:xfrm>
            <a:off x="812800" y="1117600"/>
            <a:ext cx="10566400" cy="9525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One engine any app can build on</a:t>
            </a:r>
            <a:endParaRPr lang="en-US" sz="3200" dirty="0"/>
          </a:p>
        </p:txBody>
      </p:sp>
      <p:sp>
        <p:nvSpPr>
          <p:cNvPr id="4" name="Text 2"/>
          <p:cNvSpPr txBox="1"/>
          <p:nvPr/>
        </p:nvSpPr>
        <p:spPr>
          <a:xfrm>
            <a:off x="812800" y="1905000"/>
            <a:ext cx="9842500" cy="825500"/>
          </a:xfrm>
          <a:prstGeom prst="rect">
            <a:avLst/>
          </a:prstGeom>
          <a:noFill/>
          <a:ln/>
        </p:spPr>
        <p:txBody>
          <a:bodyPr wrap="square" lIns="0" tIns="0" rIns="0" bIns="0" rtlCol="0" anchor="t"/>
          <a:lstStyle/>
          <a:p>
            <a:pPr algn="l" indent="0" marL="0">
              <a:lnSpc>
                <a:spcPct val="120000"/>
              </a:lnSpc>
              <a:buNone/>
            </a:pPr>
            <a:r>
              <a:rPr lang="en-US" sz="2200" dirty="0">
                <a:solidFill>
                  <a:srgbClr val="1B222C"/>
                </a:solidFill>
                <a:latin typeface="Calibri" pitchFamily="34" charset="0"/>
                <a:ea typeface="Calibri" pitchFamily="34" charset="-122"/>
                <a:cs typeface="Calibri" pitchFamily="34" charset="-120"/>
              </a:rPr>
              <a:t>Builder core lets an app run paid AI jobs on Livepeer, and know what every job cost.</a:t>
            </a:r>
            <a:endParaRPr lang="en-US" sz="2200" dirty="0"/>
          </a:p>
        </p:txBody>
      </p:sp>
      <p:sp>
        <p:nvSpPr>
          <p:cNvPr id="5" name="what-1"/>
          <p:cNvSpPr/>
          <p:nvPr/>
        </p:nvSpPr>
        <p:spPr>
          <a:xfrm>
            <a:off x="812800" y="2984500"/>
            <a:ext cx="3386667" cy="2095500"/>
          </a:xfrm>
          <a:prstGeom prst="roundRect">
            <a:avLst>
              <a:gd name="adj" fmla="val 4800"/>
            </a:avLst>
          </a:prstGeom>
          <a:solidFill>
            <a:srgbClr val="FBFAF7"/>
          </a:solidFill>
          <a:ln w="9525">
            <a:solidFill>
              <a:srgbClr val="DDD8CC"/>
            </a:solidFill>
            <a:prstDash val="solid"/>
          </a:ln>
        </p:spPr>
      </p:sp>
      <p:pic>
        <p:nvPicPr>
          <p:cNvPr id="6" name="what-icon-1" descr="Who can run what">    </p:cNvPr>
          <p:cNvPicPr>
            <a:picLocks noChangeAspect="1"/>
          </p:cNvPicPr>
          <p:nvPr/>
        </p:nvPicPr>
        <p:blipFill>
          <a:blip r:embed="rId1"/>
          <a:stretch>
            <a:fillRect/>
          </a:stretch>
        </p:blipFill>
        <p:spPr>
          <a:xfrm>
            <a:off x="1066800" y="3238500"/>
            <a:ext cx="355600" cy="355600"/>
          </a:xfrm>
          <a:prstGeom prst="rect">
            <a:avLst/>
          </a:prstGeom>
        </p:spPr>
      </p:pic>
      <p:sp>
        <p:nvSpPr>
          <p:cNvPr id="7" name="Text 4"/>
          <p:cNvSpPr txBox="1"/>
          <p:nvPr/>
        </p:nvSpPr>
        <p:spPr>
          <a:xfrm>
            <a:off x="1066800" y="3746500"/>
            <a:ext cx="2878667" cy="381000"/>
          </a:xfrm>
          <a:prstGeom prst="rect">
            <a:avLst/>
          </a:prstGeom>
          <a:noFill/>
          <a:ln/>
        </p:spPr>
        <p:txBody>
          <a:bodyPr wrap="square" lIns="0" tIns="0" rIns="0" bIns="0" rtlCol="0" anchor="t"/>
          <a:lstStyle/>
          <a:p>
            <a:pPr algn="l" indent="0" marL="0">
              <a:lnSpc>
                <a:spcPct val="115000"/>
              </a:lnSpc>
              <a:buNone/>
            </a:pPr>
            <a:r>
              <a:rPr lang="en-US" sz="1800" b="1" dirty="0">
                <a:solidFill>
                  <a:srgbClr val="1B222C"/>
                </a:solidFill>
                <a:latin typeface="Arial" pitchFamily="34" charset="0"/>
                <a:ea typeface="Arial" pitchFamily="34" charset="-122"/>
                <a:cs typeface="Arial" pitchFamily="34" charset="-120"/>
              </a:rPr>
              <a:t>Who can run what</a:t>
            </a:r>
            <a:endParaRPr lang="en-US" sz="1800" dirty="0"/>
          </a:p>
        </p:txBody>
      </p:sp>
      <p:sp>
        <p:nvSpPr>
          <p:cNvPr id="8" name="Text 5"/>
          <p:cNvSpPr txBox="1"/>
          <p:nvPr/>
        </p:nvSpPr>
        <p:spPr>
          <a:xfrm>
            <a:off x="1066800" y="4191000"/>
            <a:ext cx="2878667" cy="762000"/>
          </a:xfrm>
          <a:prstGeom prst="rect">
            <a:avLst/>
          </a:prstGeom>
          <a:noFill/>
          <a:ln/>
        </p:spPr>
        <p:txBody>
          <a:bodyPr wrap="square" lIns="0" tIns="0" rIns="0" bIns="0" rtlCol="0" anchor="t"/>
          <a:lstStyle/>
          <a:p>
            <a:pPr algn="l" indent="0" marL="0">
              <a:lnSpc>
                <a:spcPct val="125000"/>
              </a:lnSpc>
              <a:buNone/>
            </a:pPr>
            <a:r>
              <a:rPr lang="en-US" sz="1400" dirty="0">
                <a:solidFill>
                  <a:srgbClr val="4A5463"/>
                </a:solidFill>
                <a:latin typeface="Calibri" pitchFamily="34" charset="0"/>
                <a:ea typeface="Calibri" pitchFamily="34" charset="-122"/>
                <a:cs typeface="Calibri" pitchFamily="34" charset="-120"/>
              </a:rPr>
              <a:t>Keys and policies decide who runs jobs and whose allocation pays</a:t>
            </a:r>
            <a:endParaRPr lang="en-US" sz="1400" dirty="0"/>
          </a:p>
        </p:txBody>
      </p:sp>
      <p:sp>
        <p:nvSpPr>
          <p:cNvPr id="9" name="what-2"/>
          <p:cNvSpPr/>
          <p:nvPr/>
        </p:nvSpPr>
        <p:spPr>
          <a:xfrm>
            <a:off x="4402667" y="2984500"/>
            <a:ext cx="3386667" cy="2095500"/>
          </a:xfrm>
          <a:prstGeom prst="roundRect">
            <a:avLst>
              <a:gd name="adj" fmla="val 4800"/>
            </a:avLst>
          </a:prstGeom>
          <a:solidFill>
            <a:srgbClr val="FBFAF7"/>
          </a:solidFill>
          <a:ln w="9525">
            <a:solidFill>
              <a:srgbClr val="DDD8CC"/>
            </a:solidFill>
            <a:prstDash val="solid"/>
          </a:ln>
        </p:spPr>
      </p:sp>
      <p:pic>
        <p:nvPicPr>
          <p:cNvPr id="10" name="what-icon-2" descr="Run and pay">    </p:cNvPr>
          <p:cNvPicPr>
            <a:picLocks noChangeAspect="1"/>
          </p:cNvPicPr>
          <p:nvPr/>
        </p:nvPicPr>
        <p:blipFill>
          <a:blip r:embed="rId2"/>
          <a:stretch>
            <a:fillRect/>
          </a:stretch>
        </p:blipFill>
        <p:spPr>
          <a:xfrm>
            <a:off x="4656667" y="3238500"/>
            <a:ext cx="355600" cy="355600"/>
          </a:xfrm>
          <a:prstGeom prst="rect">
            <a:avLst/>
          </a:prstGeom>
        </p:spPr>
      </p:pic>
      <p:sp>
        <p:nvSpPr>
          <p:cNvPr id="11" name="Text 7"/>
          <p:cNvSpPr txBox="1"/>
          <p:nvPr/>
        </p:nvSpPr>
        <p:spPr>
          <a:xfrm>
            <a:off x="4656667" y="3746500"/>
            <a:ext cx="2878667" cy="381000"/>
          </a:xfrm>
          <a:prstGeom prst="rect">
            <a:avLst/>
          </a:prstGeom>
          <a:noFill/>
          <a:ln/>
        </p:spPr>
        <p:txBody>
          <a:bodyPr wrap="square" lIns="0" tIns="0" rIns="0" bIns="0" rtlCol="0" anchor="t"/>
          <a:lstStyle/>
          <a:p>
            <a:pPr algn="l" indent="0" marL="0">
              <a:lnSpc>
                <a:spcPct val="115000"/>
              </a:lnSpc>
              <a:buNone/>
            </a:pPr>
            <a:r>
              <a:rPr lang="en-US" sz="1800" b="1" dirty="0">
                <a:solidFill>
                  <a:srgbClr val="1B222C"/>
                </a:solidFill>
                <a:latin typeface="Arial" pitchFamily="34" charset="0"/>
                <a:ea typeface="Arial" pitchFamily="34" charset="-122"/>
                <a:cs typeface="Arial" pitchFamily="34" charset="-120"/>
              </a:rPr>
              <a:t>Run and pay</a:t>
            </a:r>
            <a:endParaRPr lang="en-US" sz="1800" dirty="0"/>
          </a:p>
        </p:txBody>
      </p:sp>
      <p:sp>
        <p:nvSpPr>
          <p:cNvPr id="12" name="Text 8"/>
          <p:cNvSpPr txBox="1"/>
          <p:nvPr/>
        </p:nvSpPr>
        <p:spPr>
          <a:xfrm>
            <a:off x="4656667" y="4191000"/>
            <a:ext cx="2878667" cy="762000"/>
          </a:xfrm>
          <a:prstGeom prst="rect">
            <a:avLst/>
          </a:prstGeom>
          <a:noFill/>
          <a:ln/>
        </p:spPr>
        <p:txBody>
          <a:bodyPr wrap="square" lIns="0" tIns="0" rIns="0" bIns="0" rtlCol="0" anchor="t"/>
          <a:lstStyle/>
          <a:p>
            <a:pPr algn="l" indent="0" marL="0">
              <a:lnSpc>
                <a:spcPct val="125000"/>
              </a:lnSpc>
              <a:buNone/>
            </a:pPr>
            <a:r>
              <a:rPr lang="en-US" sz="1400" dirty="0">
                <a:solidFill>
                  <a:srgbClr val="4A5463"/>
                </a:solidFill>
                <a:latin typeface="Calibri" pitchFamily="34" charset="0"/>
                <a:ea typeface="Calibri" pitchFamily="34" charset="-122"/>
                <a:cs typeface="Calibri" pitchFamily="34" charset="-120"/>
              </a:rPr>
              <a:t>Finds a runner, pays it, and records every attempt</a:t>
            </a:r>
            <a:endParaRPr lang="en-US" sz="1400" dirty="0"/>
          </a:p>
        </p:txBody>
      </p:sp>
      <p:sp>
        <p:nvSpPr>
          <p:cNvPr id="13" name="what-3"/>
          <p:cNvSpPr/>
          <p:nvPr/>
        </p:nvSpPr>
        <p:spPr>
          <a:xfrm>
            <a:off x="7992533" y="2984500"/>
            <a:ext cx="3386667" cy="2095500"/>
          </a:xfrm>
          <a:prstGeom prst="roundRect">
            <a:avLst>
              <a:gd name="adj" fmla="val 4800"/>
            </a:avLst>
          </a:prstGeom>
          <a:solidFill>
            <a:srgbClr val="FBFAF7"/>
          </a:solidFill>
          <a:ln w="9525">
            <a:solidFill>
              <a:srgbClr val="DDD8CC"/>
            </a:solidFill>
            <a:prstDash val="solid"/>
          </a:ln>
        </p:spPr>
      </p:sp>
      <p:pic>
        <p:nvPicPr>
          <p:cNvPr id="14" name="what-icon-3" descr="What it cost">    </p:cNvPr>
          <p:cNvPicPr>
            <a:picLocks noChangeAspect="1"/>
          </p:cNvPicPr>
          <p:nvPr/>
        </p:nvPicPr>
        <p:blipFill>
          <a:blip r:embed="rId3"/>
          <a:stretch>
            <a:fillRect/>
          </a:stretch>
        </p:blipFill>
        <p:spPr>
          <a:xfrm>
            <a:off x="8246533" y="3238500"/>
            <a:ext cx="355600" cy="355600"/>
          </a:xfrm>
          <a:prstGeom prst="rect">
            <a:avLst/>
          </a:prstGeom>
        </p:spPr>
      </p:pic>
      <p:sp>
        <p:nvSpPr>
          <p:cNvPr id="15" name="Text 10"/>
          <p:cNvSpPr txBox="1"/>
          <p:nvPr/>
        </p:nvSpPr>
        <p:spPr>
          <a:xfrm>
            <a:off x="8246533" y="3746500"/>
            <a:ext cx="2878667" cy="381000"/>
          </a:xfrm>
          <a:prstGeom prst="rect">
            <a:avLst/>
          </a:prstGeom>
          <a:noFill/>
          <a:ln/>
        </p:spPr>
        <p:txBody>
          <a:bodyPr wrap="square" lIns="0" tIns="0" rIns="0" bIns="0" rtlCol="0" anchor="t"/>
          <a:lstStyle/>
          <a:p>
            <a:pPr algn="l" indent="0" marL="0">
              <a:lnSpc>
                <a:spcPct val="115000"/>
              </a:lnSpc>
              <a:buNone/>
            </a:pPr>
            <a:r>
              <a:rPr lang="en-US" sz="1800" b="1" dirty="0">
                <a:solidFill>
                  <a:srgbClr val="1B222C"/>
                </a:solidFill>
                <a:latin typeface="Arial" pitchFamily="34" charset="0"/>
                <a:ea typeface="Arial" pitchFamily="34" charset="-122"/>
                <a:cs typeface="Arial" pitchFamily="34" charset="-120"/>
              </a:rPr>
              <a:t>What it cost</a:t>
            </a:r>
            <a:endParaRPr lang="en-US" sz="1800" dirty="0"/>
          </a:p>
        </p:txBody>
      </p:sp>
      <p:sp>
        <p:nvSpPr>
          <p:cNvPr id="16" name="Text 11"/>
          <p:cNvSpPr txBox="1"/>
          <p:nvPr/>
        </p:nvSpPr>
        <p:spPr>
          <a:xfrm>
            <a:off x="8246533" y="4191000"/>
            <a:ext cx="2878667" cy="762000"/>
          </a:xfrm>
          <a:prstGeom prst="rect">
            <a:avLst/>
          </a:prstGeom>
          <a:noFill/>
          <a:ln/>
        </p:spPr>
        <p:txBody>
          <a:bodyPr wrap="square" lIns="0" tIns="0" rIns="0" bIns="0" rtlCol="0" anchor="t"/>
          <a:lstStyle/>
          <a:p>
            <a:pPr algn="l" indent="0" marL="0">
              <a:lnSpc>
                <a:spcPct val="125000"/>
              </a:lnSpc>
              <a:buNone/>
            </a:pPr>
            <a:r>
              <a:rPr lang="en-US" sz="1400" dirty="0">
                <a:solidFill>
                  <a:srgbClr val="4A5463"/>
                </a:solidFill>
                <a:latin typeface="Calibri" pitchFamily="34" charset="0"/>
                <a:ea typeface="Calibri" pitchFamily="34" charset="-122"/>
                <a:cs typeface="Calibri" pitchFamily="34" charset="-120"/>
              </a:rPr>
              <a:t>Matches each network charge to the job that caused it</a:t>
            </a:r>
            <a:endParaRPr lang="en-US" sz="1400" dirty="0"/>
          </a:p>
        </p:txBody>
      </p:sp>
      <p:sp>
        <p:nvSpPr>
          <p:cNvPr id="17" name="Text 12"/>
          <p:cNvSpPr txBox="1"/>
          <p:nvPr/>
        </p:nvSpPr>
        <p:spPr>
          <a:xfrm>
            <a:off x="812800" y="5397500"/>
            <a:ext cx="10566400" cy="317500"/>
          </a:xfrm>
          <a:prstGeom prst="rect">
            <a:avLst/>
          </a:prstGeom>
          <a:noFill/>
          <a:ln/>
        </p:spPr>
        <p:txBody>
          <a:bodyPr wrap="square" lIns="0" tIns="0" rIns="0" bIns="0" rtlCol="0" anchor="t"/>
          <a:lstStyle/>
          <a:p>
            <a:pPr algn="l" indent="0" marL="0">
              <a:lnSpc>
                <a:spcPct val="115000"/>
              </a:lnSpc>
              <a:buNone/>
            </a:pPr>
            <a:r>
              <a:rPr lang="en-US" sz="1500" dirty="0">
                <a:solidFill>
                  <a:srgbClr val="4A5463"/>
                </a:solidFill>
                <a:latin typeface="Calibri" pitchFamily="34" charset="0"/>
                <a:ea typeface="Calibri" pitchFamily="34" charset="-122"/>
                <a:cs typeface="Calibri" pitchFamily="34" charset="-120"/>
              </a:rPr>
              <a:t>Use it two ways: </a:t>
            </a:r>
            <a:pPr algn="l" indent="0" marL="0">
              <a:lnSpc>
                <a:spcPct val="115000"/>
              </a:lnSpc>
              <a:buNone/>
            </a:pPr>
            <a:r>
              <a:rPr lang="en-US" sz="1500" b="1" dirty="0">
                <a:solidFill>
                  <a:srgbClr val="4A5463"/>
                </a:solidFill>
                <a:latin typeface="Calibri" pitchFamily="34" charset="0"/>
                <a:ea typeface="Calibri" pitchFamily="34" charset="-122"/>
                <a:cs typeface="Calibri" pitchFamily="34" charset="-120"/>
              </a:rPr>
              <a:t>import the Python package</a:t>
            </a:r>
            <a:pPr algn="l" indent="0" marL="0">
              <a:lnSpc>
                <a:spcPct val="115000"/>
              </a:lnSpc>
              <a:buNone/>
            </a:pPr>
            <a:r>
              <a:rPr lang="en-US" sz="1500" dirty="0">
                <a:solidFill>
                  <a:srgbClr val="4A5463"/>
                </a:solidFill>
                <a:latin typeface="Calibri" pitchFamily="34" charset="0"/>
                <a:ea typeface="Calibri" pitchFamily="34" charset="-122"/>
                <a:cs typeface="Calibri" pitchFamily="34" charset="-120"/>
              </a:rPr>
              <a:t>, or </a:t>
            </a:r>
            <a:pPr algn="l" indent="0" marL="0">
              <a:lnSpc>
                <a:spcPct val="115000"/>
              </a:lnSpc>
              <a:buNone/>
            </a:pPr>
            <a:r>
              <a:rPr lang="en-US" sz="1500" b="1" dirty="0">
                <a:solidFill>
                  <a:srgbClr val="4A5463"/>
                </a:solidFill>
                <a:latin typeface="Calibri" pitchFamily="34" charset="0"/>
                <a:ea typeface="Calibri" pitchFamily="34" charset="-122"/>
                <a:cs typeface="Calibri" pitchFamily="34" charset="-120"/>
              </a:rPr>
              <a:t>run it as a REST service</a:t>
            </a:r>
            <a:pPr algn="l" indent="0" marL="0">
              <a:lnSpc>
                <a:spcPct val="115000"/>
              </a:lnSpc>
              <a:buNone/>
            </a:pPr>
            <a:r>
              <a:rPr lang="en-US" sz="1500" dirty="0">
                <a:solidFill>
                  <a:srgbClr val="4A546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12800" y="812800"/>
            <a:ext cx="10566400" cy="9525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Where builder core fits</a:t>
            </a:r>
            <a:endParaRPr lang="en-US" sz="3200" dirty="0"/>
          </a:p>
        </p:txBody>
      </p:sp>
      <p:sp>
        <p:nvSpPr>
          <p:cNvPr id="3" name="Text 1"/>
          <p:cNvSpPr txBox="1"/>
          <p:nvPr/>
        </p:nvSpPr>
        <p:spPr>
          <a:xfrm>
            <a:off x="812800" y="1333500"/>
            <a:ext cx="10566400" cy="279400"/>
          </a:xfrm>
          <a:prstGeom prst="rect">
            <a:avLst/>
          </a:prstGeom>
          <a:noFill/>
          <a:ln/>
        </p:spPr>
        <p:txBody>
          <a:bodyPr wrap="square" lIns="0" tIns="0" rIns="0" bIns="0" rtlCol="0" anchor="t"/>
          <a:lstStyle/>
          <a:p>
            <a:pPr algn="l" indent="0" marL="0">
              <a:lnSpc>
                <a:spcPct val="115000"/>
              </a:lnSpc>
              <a:buNone/>
            </a:pPr>
            <a:r>
              <a:rPr lang="en-US" sz="1500" dirty="0">
                <a:solidFill>
                  <a:srgbClr val="4A5463"/>
                </a:solidFill>
                <a:latin typeface="Calibri" pitchFamily="34" charset="0"/>
                <a:ea typeface="Calibri" pitchFamily="34" charset="-122"/>
                <a:cs typeface="Calibri" pitchFamily="34" charset="-120"/>
              </a:rPr>
              <a:t>Between your app and the Livepeer stack that already exists</a:t>
            </a:r>
            <a:endParaRPr lang="en-US" sz="1500" dirty="0"/>
          </a:p>
        </p:txBody>
      </p:sp>
      <p:sp>
        <p:nvSpPr>
          <p:cNvPr id="4" name="stack-panel"/>
          <p:cNvSpPr/>
          <p:nvPr/>
        </p:nvSpPr>
        <p:spPr>
          <a:xfrm>
            <a:off x="812800" y="4349750"/>
            <a:ext cx="10566400" cy="1651000"/>
          </a:xfrm>
          <a:prstGeom prst="roundRect">
            <a:avLst>
              <a:gd name="adj" fmla="val 7754"/>
            </a:avLst>
          </a:prstGeom>
          <a:solidFill>
            <a:srgbClr val="DED8CA"/>
          </a:solidFill>
          <a:ln/>
        </p:spPr>
      </p:sp>
      <p:sp>
        <p:nvSpPr>
          <p:cNvPr id="5" name="app-desk"/>
          <p:cNvSpPr/>
          <p:nvPr/>
        </p:nvSpPr>
        <p:spPr>
          <a:xfrm>
            <a:off x="1447800" y="1809750"/>
            <a:ext cx="2540000" cy="698500"/>
          </a:xfrm>
          <a:prstGeom prst="roundRect">
            <a:avLst>
              <a:gd name="adj" fmla="val 14400"/>
            </a:avLst>
          </a:prstGeom>
          <a:solidFill>
            <a:srgbClr val="FBFAF7"/>
          </a:solidFill>
          <a:ln w="9525">
            <a:solidFill>
              <a:srgbClr val="CFC9BB"/>
            </a:solidFill>
            <a:prstDash val="solid"/>
          </a:ln>
        </p:spPr>
      </p:sp>
      <p:sp>
        <p:nvSpPr>
          <p:cNvPr id="6" name="Text 4"/>
          <p:cNvSpPr txBox="1"/>
          <p:nvPr/>
        </p:nvSpPr>
        <p:spPr>
          <a:xfrm>
            <a:off x="1600200" y="1936750"/>
            <a:ext cx="2235200" cy="279400"/>
          </a:xfrm>
          <a:prstGeom prst="rect">
            <a:avLst/>
          </a:prstGeom>
          <a:noFill/>
          <a:ln/>
        </p:spPr>
        <p:txBody>
          <a:bodyPr wrap="square" lIns="0" tIns="0" rIns="0" bIns="0" rtlCol="0" anchor="t"/>
          <a:lstStyle/>
          <a:p>
            <a:pPr algn="l" indent="0" marL="0">
              <a:lnSpc>
                <a:spcPct val="115000"/>
              </a:lnSpc>
              <a:buNone/>
            </a:pPr>
            <a:r>
              <a:rPr lang="en-US" sz="1400" b="1" dirty="0">
                <a:solidFill>
                  <a:srgbClr val="1B222C"/>
                </a:solidFill>
                <a:latin typeface="Arial" pitchFamily="34" charset="0"/>
                <a:ea typeface="Arial" pitchFamily="34" charset="-122"/>
                <a:cs typeface="Arial" pitchFamily="34" charset="-120"/>
              </a:rPr>
              <a:t>Enterprise desk</a:t>
            </a:r>
            <a:endParaRPr lang="en-US" sz="1400" dirty="0"/>
          </a:p>
        </p:txBody>
      </p:sp>
      <p:sp>
        <p:nvSpPr>
          <p:cNvPr id="7" name="Text 5"/>
          <p:cNvSpPr txBox="1"/>
          <p:nvPr/>
        </p:nvSpPr>
        <p:spPr>
          <a:xfrm>
            <a:off x="1600200" y="2228850"/>
            <a:ext cx="2235200" cy="254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over REST</a:t>
            </a:r>
            <a:endParaRPr lang="en-US" sz="1200" dirty="0"/>
          </a:p>
        </p:txBody>
      </p:sp>
      <p:sp>
        <p:nvSpPr>
          <p:cNvPr id="8" name="app-chatlpt"/>
          <p:cNvSpPr/>
          <p:nvPr/>
        </p:nvSpPr>
        <p:spPr>
          <a:xfrm>
            <a:off x="4826000" y="1809750"/>
            <a:ext cx="2540000" cy="698500"/>
          </a:xfrm>
          <a:prstGeom prst="roundRect">
            <a:avLst>
              <a:gd name="adj" fmla="val 14400"/>
            </a:avLst>
          </a:prstGeom>
          <a:solidFill>
            <a:srgbClr val="FBFAF7"/>
          </a:solidFill>
          <a:ln w="9525">
            <a:solidFill>
              <a:srgbClr val="CFC9BB"/>
            </a:solidFill>
            <a:prstDash val="solid"/>
          </a:ln>
        </p:spPr>
      </p:sp>
      <p:sp>
        <p:nvSpPr>
          <p:cNvPr id="9" name="Text 7"/>
          <p:cNvSpPr txBox="1"/>
          <p:nvPr/>
        </p:nvSpPr>
        <p:spPr>
          <a:xfrm>
            <a:off x="4978400" y="1936750"/>
            <a:ext cx="2235200" cy="279400"/>
          </a:xfrm>
          <a:prstGeom prst="rect">
            <a:avLst/>
          </a:prstGeom>
          <a:noFill/>
          <a:ln/>
        </p:spPr>
        <p:txBody>
          <a:bodyPr wrap="square" lIns="0" tIns="0" rIns="0" bIns="0" rtlCol="0" anchor="t"/>
          <a:lstStyle/>
          <a:p>
            <a:pPr algn="l" indent="0" marL="0">
              <a:lnSpc>
                <a:spcPct val="115000"/>
              </a:lnSpc>
              <a:buNone/>
            </a:pPr>
            <a:r>
              <a:rPr lang="en-US" sz="1400" b="1" dirty="0">
                <a:solidFill>
                  <a:srgbClr val="1B222C"/>
                </a:solidFill>
                <a:latin typeface="Arial" pitchFamily="34" charset="0"/>
                <a:ea typeface="Arial" pitchFamily="34" charset="-122"/>
                <a:cs typeface="Arial" pitchFamily="34" charset="-120"/>
              </a:rPr>
              <a:t>ChatLPT</a:t>
            </a:r>
            <a:endParaRPr lang="en-US" sz="1400" dirty="0"/>
          </a:p>
        </p:txBody>
      </p:sp>
      <p:sp>
        <p:nvSpPr>
          <p:cNvPr id="10" name="Text 8"/>
          <p:cNvSpPr txBox="1"/>
          <p:nvPr/>
        </p:nvSpPr>
        <p:spPr>
          <a:xfrm>
            <a:off x="4978400" y="2228850"/>
            <a:ext cx="2235200" cy="254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embedded</a:t>
            </a:r>
            <a:endParaRPr lang="en-US" sz="1200" dirty="0"/>
          </a:p>
        </p:txBody>
      </p:sp>
      <p:sp>
        <p:nvSpPr>
          <p:cNvPr id="11" name="app-yours"/>
          <p:cNvSpPr/>
          <p:nvPr/>
        </p:nvSpPr>
        <p:spPr>
          <a:xfrm>
            <a:off x="8204200" y="1809750"/>
            <a:ext cx="2540000" cy="698500"/>
          </a:xfrm>
          <a:prstGeom prst="roundRect">
            <a:avLst>
              <a:gd name="adj" fmla="val 14400"/>
            </a:avLst>
          </a:prstGeom>
          <a:solidFill>
            <a:srgbClr val="FBFAF7"/>
          </a:solidFill>
          <a:ln w="9525">
            <a:solidFill>
              <a:srgbClr val="8A8475"/>
            </a:solidFill>
            <a:prstDash val="dash"/>
          </a:ln>
        </p:spPr>
      </p:sp>
      <p:sp>
        <p:nvSpPr>
          <p:cNvPr id="12" name="Text 10"/>
          <p:cNvSpPr txBox="1"/>
          <p:nvPr/>
        </p:nvSpPr>
        <p:spPr>
          <a:xfrm>
            <a:off x="8356600" y="1936750"/>
            <a:ext cx="2235200" cy="279400"/>
          </a:xfrm>
          <a:prstGeom prst="rect">
            <a:avLst/>
          </a:prstGeom>
          <a:noFill/>
          <a:ln/>
        </p:spPr>
        <p:txBody>
          <a:bodyPr wrap="square" lIns="0" tIns="0" rIns="0" bIns="0" rtlCol="0" anchor="t"/>
          <a:lstStyle/>
          <a:p>
            <a:pPr algn="l" indent="0" marL="0">
              <a:lnSpc>
                <a:spcPct val="115000"/>
              </a:lnSpc>
              <a:buNone/>
            </a:pPr>
            <a:r>
              <a:rPr lang="en-US" sz="1400" b="1" dirty="0">
                <a:solidFill>
                  <a:srgbClr val="1B222C"/>
                </a:solidFill>
                <a:latin typeface="Arial" pitchFamily="34" charset="0"/>
                <a:ea typeface="Arial" pitchFamily="34" charset="-122"/>
                <a:cs typeface="Arial" pitchFamily="34" charset="-120"/>
              </a:rPr>
              <a:t>Your app</a:t>
            </a:r>
            <a:endParaRPr lang="en-US" sz="1400" dirty="0"/>
          </a:p>
        </p:txBody>
      </p:sp>
      <p:sp>
        <p:nvSpPr>
          <p:cNvPr id="13" name="Text 11"/>
          <p:cNvSpPr txBox="1"/>
          <p:nvPr/>
        </p:nvSpPr>
        <p:spPr>
          <a:xfrm>
            <a:off x="8356600" y="2228850"/>
            <a:ext cx="2235200" cy="254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either way</a:t>
            </a:r>
            <a:endParaRPr lang="en-US" sz="1200" dirty="0"/>
          </a:p>
        </p:txBody>
      </p:sp>
      <p:sp>
        <p:nvSpPr>
          <p:cNvPr id="14" name="builder-core"/>
          <p:cNvSpPr/>
          <p:nvPr/>
        </p:nvSpPr>
        <p:spPr>
          <a:xfrm>
            <a:off x="1447800" y="3016250"/>
            <a:ext cx="9296400" cy="825500"/>
          </a:xfrm>
          <a:prstGeom prst="roundRect">
            <a:avLst>
              <a:gd name="adj" fmla="val 12185"/>
            </a:avLst>
          </a:prstGeom>
          <a:solidFill>
            <a:srgbClr val="16705F"/>
          </a:solidFill>
          <a:ln/>
        </p:spPr>
      </p:sp>
      <p:sp>
        <p:nvSpPr>
          <p:cNvPr id="15" name="Text 13"/>
          <p:cNvSpPr txBox="1"/>
          <p:nvPr/>
        </p:nvSpPr>
        <p:spPr>
          <a:xfrm>
            <a:off x="1600200" y="3143250"/>
            <a:ext cx="8991600" cy="279400"/>
          </a:xfrm>
          <a:prstGeom prst="rect">
            <a:avLst/>
          </a:prstGeom>
          <a:noFill/>
          <a:ln/>
        </p:spPr>
        <p:txBody>
          <a:bodyPr wrap="square" lIns="0" tIns="0" rIns="0" bIns="0" rtlCol="0" anchor="t"/>
          <a:lstStyle/>
          <a:p>
            <a:pPr algn="l" indent="0" marL="0">
              <a:lnSpc>
                <a:spcPct val="115000"/>
              </a:lnSpc>
              <a:buNone/>
            </a:pPr>
            <a:r>
              <a:rPr lang="en-US" sz="2000" b="1" dirty="0">
                <a:solidFill>
                  <a:srgbClr val="F2EFE8"/>
                </a:solidFill>
                <a:latin typeface="Arial" pitchFamily="34" charset="0"/>
                <a:ea typeface="Arial" pitchFamily="34" charset="-122"/>
                <a:cs typeface="Arial" pitchFamily="34" charset="-120"/>
              </a:rPr>
              <a:t>livepeer-builder-core</a:t>
            </a:r>
            <a:endParaRPr lang="en-US" sz="2000" dirty="0"/>
          </a:p>
        </p:txBody>
      </p:sp>
      <p:sp>
        <p:nvSpPr>
          <p:cNvPr id="16" name="Text 14"/>
          <p:cNvSpPr txBox="1"/>
          <p:nvPr/>
        </p:nvSpPr>
        <p:spPr>
          <a:xfrm>
            <a:off x="1600200" y="3498850"/>
            <a:ext cx="8991600" cy="254000"/>
          </a:xfrm>
          <a:prstGeom prst="rect">
            <a:avLst/>
          </a:prstGeom>
          <a:noFill/>
          <a:ln/>
        </p:spPr>
        <p:txBody>
          <a:bodyPr wrap="square" lIns="0" tIns="0" rIns="0" bIns="0" rtlCol="0" anchor="t"/>
          <a:lstStyle/>
          <a:p>
            <a:pPr algn="l" indent="0" marL="0">
              <a:lnSpc>
                <a:spcPct val="115000"/>
              </a:lnSpc>
              <a:buNone/>
            </a:pPr>
            <a:r>
              <a:rPr lang="en-US" sz="1300" dirty="0">
                <a:solidFill>
                  <a:srgbClr val="D7EEE8"/>
                </a:solidFill>
                <a:latin typeface="Calibri" pitchFamily="34" charset="0"/>
                <a:ea typeface="Calibri" pitchFamily="34" charset="-122"/>
                <a:cs typeface="Calibri" pitchFamily="34" charset="-120"/>
              </a:rPr>
              <a:t>who can run what · runs and pays for jobs · cost of every job · SQLite or PostgreSQL</a:t>
            </a:r>
            <a:endParaRPr lang="en-US" sz="1300" dirty="0"/>
          </a:p>
        </p:txBody>
      </p:sp>
      <p:sp>
        <p:nvSpPr>
          <p:cNvPr id="17" name="Text 15"/>
          <p:cNvSpPr txBox="1"/>
          <p:nvPr/>
        </p:nvSpPr>
        <p:spPr>
          <a:xfrm>
            <a:off x="8305800" y="4425950"/>
            <a:ext cx="2921000" cy="254000"/>
          </a:xfrm>
          <a:prstGeom prst="rect">
            <a:avLst/>
          </a:prstGeom>
          <a:noFill/>
          <a:ln/>
        </p:spPr>
        <p:txBody>
          <a:bodyPr wrap="square" lIns="0" tIns="0" rIns="0" bIns="0" rtlCol="0" anchor="t"/>
          <a:lstStyle/>
          <a:p>
            <a:pPr algn="r" indent="0" marL="0">
              <a:lnSpc>
                <a:spcPct val="115000"/>
              </a:lnSpc>
              <a:buNone/>
            </a:pPr>
            <a:r>
              <a:rPr lang="en-US" sz="1200" dirty="0">
                <a:solidFill>
                  <a:srgbClr val="5C5648"/>
                </a:solidFill>
                <a:latin typeface="Courier New" pitchFamily="34" charset="0"/>
                <a:ea typeface="Courier New" pitchFamily="34" charset="-122"/>
                <a:cs typeface="Courier New" pitchFamily="34" charset="-120"/>
              </a:rPr>
              <a:t>The Livepeer stack today</a:t>
            </a:r>
            <a:endParaRPr lang="en-US" sz="1200" dirty="0"/>
          </a:p>
        </p:txBody>
      </p:sp>
      <p:sp>
        <p:nvSpPr>
          <p:cNvPr id="18" name="stack-batteries"/>
          <p:cNvSpPr/>
          <p:nvPr/>
        </p:nvSpPr>
        <p:spPr>
          <a:xfrm>
            <a:off x="939800" y="4794250"/>
            <a:ext cx="2349500" cy="825500"/>
          </a:xfrm>
          <a:prstGeom prst="roundRect">
            <a:avLst>
              <a:gd name="adj" fmla="val 12185"/>
            </a:avLst>
          </a:prstGeom>
          <a:solidFill>
            <a:srgbClr val="FBFAF7"/>
          </a:solidFill>
          <a:ln w="9525">
            <a:solidFill>
              <a:srgbClr val="CFC9BB"/>
            </a:solidFill>
            <a:prstDash val="solid"/>
          </a:ln>
        </p:spPr>
      </p:sp>
      <p:sp>
        <p:nvSpPr>
          <p:cNvPr id="19" name="Text 17"/>
          <p:cNvSpPr txBox="1"/>
          <p:nvPr/>
        </p:nvSpPr>
        <p:spPr>
          <a:xfrm>
            <a:off x="1092200" y="4921250"/>
            <a:ext cx="2044700" cy="279400"/>
          </a:xfrm>
          <a:prstGeom prst="rect">
            <a:avLst/>
          </a:prstGeom>
          <a:noFill/>
          <a:ln/>
        </p:spPr>
        <p:txBody>
          <a:bodyPr wrap="square" lIns="0" tIns="0" rIns="0" bIns="0" rtlCol="0" anchor="t"/>
          <a:lstStyle/>
          <a:p>
            <a:pPr algn="l" indent="0" marL="0">
              <a:lnSpc>
                <a:spcPct val="115000"/>
              </a:lnSpc>
              <a:buNone/>
            </a:pPr>
            <a:r>
              <a:rPr lang="en-US" sz="1400" b="1" dirty="0">
                <a:solidFill>
                  <a:srgbClr val="1B222C"/>
                </a:solidFill>
                <a:latin typeface="Arial" pitchFamily="34" charset="0"/>
                <a:ea typeface="Arial" pitchFamily="34" charset="-122"/>
                <a:cs typeface="Arial" pitchFamily="34" charset="-120"/>
              </a:rPr>
              <a:t>Batteries</a:t>
            </a:r>
            <a:endParaRPr lang="en-US" sz="1400" dirty="0"/>
          </a:p>
        </p:txBody>
      </p:sp>
      <p:sp>
        <p:nvSpPr>
          <p:cNvPr id="20" name="Text 18"/>
          <p:cNvSpPr txBox="1"/>
          <p:nvPr/>
        </p:nvSpPr>
        <p:spPr>
          <a:xfrm>
            <a:off x="1092200" y="5213350"/>
            <a:ext cx="2044700" cy="254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Clearinghouse ledger</a:t>
            </a:r>
            <a:endParaRPr lang="en-US" sz="1200" dirty="0"/>
          </a:p>
        </p:txBody>
      </p:sp>
      <p:sp>
        <p:nvSpPr>
          <p:cNvPr id="21" name="stack-signer"/>
          <p:cNvSpPr/>
          <p:nvPr/>
        </p:nvSpPr>
        <p:spPr>
          <a:xfrm>
            <a:off x="3594100" y="4794250"/>
            <a:ext cx="2349500" cy="825500"/>
          </a:xfrm>
          <a:prstGeom prst="roundRect">
            <a:avLst>
              <a:gd name="adj" fmla="val 12185"/>
            </a:avLst>
          </a:prstGeom>
          <a:solidFill>
            <a:srgbClr val="FBFAF7"/>
          </a:solidFill>
          <a:ln w="9525">
            <a:solidFill>
              <a:srgbClr val="CFC9BB"/>
            </a:solidFill>
            <a:prstDash val="solid"/>
          </a:ln>
        </p:spPr>
      </p:sp>
      <p:sp>
        <p:nvSpPr>
          <p:cNvPr id="22" name="Text 20"/>
          <p:cNvSpPr txBox="1"/>
          <p:nvPr/>
        </p:nvSpPr>
        <p:spPr>
          <a:xfrm>
            <a:off x="3746500" y="4921250"/>
            <a:ext cx="2044700" cy="279400"/>
          </a:xfrm>
          <a:prstGeom prst="rect">
            <a:avLst/>
          </a:prstGeom>
          <a:noFill/>
          <a:ln/>
        </p:spPr>
        <p:txBody>
          <a:bodyPr wrap="square" lIns="0" tIns="0" rIns="0" bIns="0" rtlCol="0" anchor="t"/>
          <a:lstStyle/>
          <a:p>
            <a:pPr algn="l" indent="0" marL="0">
              <a:lnSpc>
                <a:spcPct val="115000"/>
              </a:lnSpc>
              <a:buNone/>
            </a:pPr>
            <a:r>
              <a:rPr lang="en-US" sz="1400" b="1" dirty="0">
                <a:solidFill>
                  <a:srgbClr val="1B222C"/>
                </a:solidFill>
                <a:latin typeface="Arial" pitchFamily="34" charset="0"/>
                <a:ea typeface="Arial" pitchFamily="34" charset="-122"/>
                <a:cs typeface="Arial" pitchFamily="34" charset="-120"/>
              </a:rPr>
              <a:t>Remote signer</a:t>
            </a:r>
            <a:endParaRPr lang="en-US" sz="1400" dirty="0"/>
          </a:p>
        </p:txBody>
      </p:sp>
      <p:sp>
        <p:nvSpPr>
          <p:cNvPr id="23" name="Text 21"/>
          <p:cNvSpPr txBox="1"/>
          <p:nvPr/>
        </p:nvSpPr>
        <p:spPr>
          <a:xfrm>
            <a:off x="3746500" y="5213350"/>
            <a:ext cx="2044700" cy="254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livepeer/node</a:t>
            </a:r>
            <a:endParaRPr lang="en-US" sz="1200" dirty="0"/>
          </a:p>
        </p:txBody>
      </p:sp>
      <p:sp>
        <p:nvSpPr>
          <p:cNvPr id="24" name="stack-sdk"/>
          <p:cNvSpPr/>
          <p:nvPr/>
        </p:nvSpPr>
        <p:spPr>
          <a:xfrm>
            <a:off x="6248400" y="4794250"/>
            <a:ext cx="2349500" cy="825500"/>
          </a:xfrm>
          <a:prstGeom prst="roundRect">
            <a:avLst>
              <a:gd name="adj" fmla="val 12185"/>
            </a:avLst>
          </a:prstGeom>
          <a:solidFill>
            <a:srgbClr val="FBFAF7"/>
          </a:solidFill>
          <a:ln w="9525">
            <a:solidFill>
              <a:srgbClr val="CFC9BB"/>
            </a:solidFill>
            <a:prstDash val="solid"/>
          </a:ln>
        </p:spPr>
      </p:sp>
      <p:sp>
        <p:nvSpPr>
          <p:cNvPr id="25" name="Text 23"/>
          <p:cNvSpPr txBox="1"/>
          <p:nvPr/>
        </p:nvSpPr>
        <p:spPr>
          <a:xfrm>
            <a:off x="6400800" y="4921250"/>
            <a:ext cx="2044700" cy="279400"/>
          </a:xfrm>
          <a:prstGeom prst="rect">
            <a:avLst/>
          </a:prstGeom>
          <a:noFill/>
          <a:ln/>
        </p:spPr>
        <p:txBody>
          <a:bodyPr wrap="square" lIns="0" tIns="0" rIns="0" bIns="0" rtlCol="0" anchor="t"/>
          <a:lstStyle/>
          <a:p>
            <a:pPr algn="l" indent="0" marL="0">
              <a:lnSpc>
                <a:spcPct val="115000"/>
              </a:lnSpc>
              <a:buNone/>
            </a:pPr>
            <a:r>
              <a:rPr lang="en-US" sz="1400" b="1" dirty="0">
                <a:solidFill>
                  <a:srgbClr val="1B222C"/>
                </a:solidFill>
                <a:latin typeface="Arial" pitchFamily="34" charset="0"/>
                <a:ea typeface="Arial" pitchFamily="34" charset="-122"/>
                <a:cs typeface="Arial" pitchFamily="34" charset="-120"/>
              </a:rPr>
              <a:t>Python SDK</a:t>
            </a:r>
            <a:endParaRPr lang="en-US" sz="1400" dirty="0"/>
          </a:p>
        </p:txBody>
      </p:sp>
      <p:sp>
        <p:nvSpPr>
          <p:cNvPr id="26" name="Text 24"/>
          <p:cNvSpPr txBox="1"/>
          <p:nvPr/>
        </p:nvSpPr>
        <p:spPr>
          <a:xfrm>
            <a:off x="6400800" y="5213350"/>
            <a:ext cx="2044700" cy="254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calls the runner</a:t>
            </a:r>
            <a:endParaRPr lang="en-US" sz="1200" dirty="0"/>
          </a:p>
        </p:txBody>
      </p:sp>
      <p:sp>
        <p:nvSpPr>
          <p:cNvPr id="27" name="stack-orchestrators"/>
          <p:cNvSpPr/>
          <p:nvPr/>
        </p:nvSpPr>
        <p:spPr>
          <a:xfrm>
            <a:off x="8902700" y="4794250"/>
            <a:ext cx="2349500" cy="825500"/>
          </a:xfrm>
          <a:prstGeom prst="roundRect">
            <a:avLst>
              <a:gd name="adj" fmla="val 12185"/>
            </a:avLst>
          </a:prstGeom>
          <a:solidFill>
            <a:srgbClr val="FBFAF7"/>
          </a:solidFill>
          <a:ln w="9525">
            <a:solidFill>
              <a:srgbClr val="CFC9BB"/>
            </a:solidFill>
            <a:prstDash val="solid"/>
          </a:ln>
        </p:spPr>
      </p:sp>
      <p:sp>
        <p:nvSpPr>
          <p:cNvPr id="28" name="Text 26"/>
          <p:cNvSpPr txBox="1"/>
          <p:nvPr/>
        </p:nvSpPr>
        <p:spPr>
          <a:xfrm>
            <a:off x="9055100" y="4921250"/>
            <a:ext cx="2044700" cy="279400"/>
          </a:xfrm>
          <a:prstGeom prst="rect">
            <a:avLst/>
          </a:prstGeom>
          <a:noFill/>
          <a:ln/>
        </p:spPr>
        <p:txBody>
          <a:bodyPr wrap="square" lIns="0" tIns="0" rIns="0" bIns="0" rtlCol="0" anchor="t"/>
          <a:lstStyle/>
          <a:p>
            <a:pPr algn="l" indent="0" marL="0">
              <a:lnSpc>
                <a:spcPct val="115000"/>
              </a:lnSpc>
              <a:buNone/>
            </a:pPr>
            <a:r>
              <a:rPr lang="en-US" sz="1400" b="1" dirty="0">
                <a:solidFill>
                  <a:srgbClr val="1B222C"/>
                </a:solidFill>
                <a:latin typeface="Arial" pitchFamily="34" charset="0"/>
                <a:ea typeface="Arial" pitchFamily="34" charset="-122"/>
                <a:cs typeface="Arial" pitchFamily="34" charset="-120"/>
              </a:rPr>
              <a:t>Orchestrators</a:t>
            </a:r>
            <a:endParaRPr lang="en-US" sz="1400" dirty="0"/>
          </a:p>
        </p:txBody>
      </p:sp>
      <p:sp>
        <p:nvSpPr>
          <p:cNvPr id="29" name="Text 27"/>
          <p:cNvSpPr txBox="1"/>
          <p:nvPr/>
        </p:nvSpPr>
        <p:spPr>
          <a:xfrm>
            <a:off x="9055100" y="5213350"/>
            <a:ext cx="2044700" cy="254000"/>
          </a:xfrm>
          <a:prstGeom prst="rect">
            <a:avLst/>
          </a:prstGeom>
          <a:noFill/>
          <a:ln/>
        </p:spPr>
        <p:txBody>
          <a:bodyPr wrap="square" lIns="0" tIns="0" rIns="0" bIns="0" rtlCol="0" anchor="t"/>
          <a:lstStyle/>
          <a:p>
            <a:pPr algn="l" indent="0" marL="0">
              <a:lnSpc>
                <a:spcPct val="115000"/>
              </a:lnSpc>
              <a:buNone/>
            </a:pPr>
            <a:r>
              <a:rPr lang="en-US" sz="1200" dirty="0">
                <a:solidFill>
                  <a:srgbClr val="4A5463"/>
                </a:solidFill>
                <a:latin typeface="Calibri" pitchFamily="34" charset="0"/>
                <a:ea typeface="Calibri" pitchFamily="34" charset="-122"/>
                <a:cs typeface="Calibri" pitchFamily="34" charset="-120"/>
              </a:rPr>
              <a:t>run the AI jobs</a:t>
            </a:r>
            <a:endParaRPr lang="en-US" sz="1200" dirty="0"/>
          </a:p>
        </p:txBody>
      </p:sp>
      <p:sp>
        <p:nvSpPr>
          <p:cNvPr id="30" name="arrow-desk"/>
          <p:cNvSpPr/>
          <p:nvPr/>
        </p:nvSpPr>
        <p:spPr>
          <a:xfrm>
            <a:off x="2717800" y="2508250"/>
            <a:ext cx="0" cy="508000"/>
          </a:xfrm>
          <a:prstGeom prst="line">
            <a:avLst/>
          </a:prstGeom>
          <a:noFill/>
          <a:ln w="25400">
            <a:solidFill>
              <a:srgbClr val="16705F"/>
            </a:solidFill>
            <a:prstDash val="solid"/>
            <a:tailEnd type="triangle"/>
          </a:ln>
        </p:spPr>
      </p:sp>
      <p:sp>
        <p:nvSpPr>
          <p:cNvPr id="31" name="arrow-chatlpt"/>
          <p:cNvSpPr/>
          <p:nvPr/>
        </p:nvSpPr>
        <p:spPr>
          <a:xfrm>
            <a:off x="6096000" y="2508250"/>
            <a:ext cx="0" cy="508000"/>
          </a:xfrm>
          <a:prstGeom prst="line">
            <a:avLst/>
          </a:prstGeom>
          <a:noFill/>
          <a:ln w="25400">
            <a:solidFill>
              <a:srgbClr val="16705F"/>
            </a:solidFill>
            <a:prstDash val="solid"/>
            <a:tailEnd type="triangle"/>
          </a:ln>
        </p:spPr>
      </p:sp>
      <p:sp>
        <p:nvSpPr>
          <p:cNvPr id="32" name="arrow-yours"/>
          <p:cNvSpPr/>
          <p:nvPr/>
        </p:nvSpPr>
        <p:spPr>
          <a:xfrm>
            <a:off x="9474200" y="2508250"/>
            <a:ext cx="0" cy="508000"/>
          </a:xfrm>
          <a:prstGeom prst="line">
            <a:avLst/>
          </a:prstGeom>
          <a:noFill/>
          <a:ln w="25400">
            <a:solidFill>
              <a:srgbClr val="16705F"/>
            </a:solidFill>
            <a:prstDash val="dash"/>
            <a:tailEnd type="triangle"/>
          </a:ln>
        </p:spPr>
      </p:sp>
      <p:sp>
        <p:nvSpPr>
          <p:cNvPr id="33" name="arrow-runs-job"/>
          <p:cNvSpPr/>
          <p:nvPr/>
        </p:nvSpPr>
        <p:spPr>
          <a:xfrm>
            <a:off x="7423150" y="3841750"/>
            <a:ext cx="0" cy="952500"/>
          </a:xfrm>
          <a:prstGeom prst="line">
            <a:avLst/>
          </a:prstGeom>
          <a:noFill/>
          <a:ln w="25400">
            <a:solidFill>
              <a:srgbClr val="16705F"/>
            </a:solidFill>
            <a:prstDash val="solid"/>
            <a:tailEnd type="triangle"/>
          </a:ln>
        </p:spPr>
      </p:sp>
      <p:sp>
        <p:nvSpPr>
          <p:cNvPr id="34" name="arrow-sdk-signer"/>
          <p:cNvSpPr/>
          <p:nvPr/>
        </p:nvSpPr>
        <p:spPr>
          <a:xfrm>
            <a:off x="5943600" y="5207000"/>
            <a:ext cx="304800" cy="0"/>
          </a:xfrm>
          <a:prstGeom prst="line">
            <a:avLst/>
          </a:prstGeom>
          <a:noFill/>
          <a:ln w="25400">
            <a:solidFill>
              <a:srgbClr val="16705F"/>
            </a:solidFill>
            <a:prstDash val="solid"/>
            <a:headEnd type="triangle"/>
          </a:ln>
        </p:spPr>
      </p:sp>
      <p:sp>
        <p:nvSpPr>
          <p:cNvPr id="35" name="arrow-signer-batteries"/>
          <p:cNvSpPr/>
          <p:nvPr/>
        </p:nvSpPr>
        <p:spPr>
          <a:xfrm>
            <a:off x="3289300" y="5207000"/>
            <a:ext cx="304800" cy="0"/>
          </a:xfrm>
          <a:prstGeom prst="line">
            <a:avLst/>
          </a:prstGeom>
          <a:noFill/>
          <a:ln w="25400">
            <a:solidFill>
              <a:srgbClr val="A86A12"/>
            </a:solidFill>
            <a:prstDash val="solid"/>
            <a:headEnd type="triangle"/>
          </a:ln>
        </p:spPr>
      </p:sp>
      <p:sp>
        <p:nvSpPr>
          <p:cNvPr id="36" name="arrow-sdk-orchestrator"/>
          <p:cNvSpPr/>
          <p:nvPr/>
        </p:nvSpPr>
        <p:spPr>
          <a:xfrm>
            <a:off x="8597900" y="5207000"/>
            <a:ext cx="304800" cy="0"/>
          </a:xfrm>
          <a:prstGeom prst="line">
            <a:avLst/>
          </a:prstGeom>
          <a:noFill/>
          <a:ln w="25400">
            <a:solidFill>
              <a:srgbClr val="16705F"/>
            </a:solidFill>
            <a:prstDash val="solid"/>
            <a:tailEnd type="triangle"/>
          </a:ln>
        </p:spPr>
      </p:sp>
      <p:sp>
        <p:nvSpPr>
          <p:cNvPr id="37" name="arrow-usage-feed"/>
          <p:cNvSpPr/>
          <p:nvPr/>
        </p:nvSpPr>
        <p:spPr>
          <a:xfrm>
            <a:off x="2114550" y="3841750"/>
            <a:ext cx="0" cy="952500"/>
          </a:xfrm>
          <a:prstGeom prst="line">
            <a:avLst/>
          </a:prstGeom>
          <a:noFill/>
          <a:ln w="25400">
            <a:solidFill>
              <a:srgbClr val="A86A12"/>
            </a:solidFill>
            <a:prstDash val="dash"/>
            <a:headEnd type="triangle"/>
          </a:ln>
        </p:spPr>
      </p:sp>
      <p:sp>
        <p:nvSpPr>
          <p:cNvPr id="38" name="Text 36"/>
          <p:cNvSpPr txBox="1"/>
          <p:nvPr/>
        </p:nvSpPr>
        <p:spPr>
          <a:xfrm>
            <a:off x="7512050" y="3987800"/>
            <a:ext cx="1524000" cy="254000"/>
          </a:xfrm>
          <a:prstGeom prst="rect">
            <a:avLst/>
          </a:prstGeom>
          <a:noFill/>
          <a:ln/>
        </p:spPr>
        <p:txBody>
          <a:bodyPr wrap="square" lIns="0" tIns="0" rIns="0" bIns="0" rtlCol="0" anchor="t"/>
          <a:lstStyle/>
          <a:p>
            <a:pPr algn="l" indent="0" marL="0">
              <a:lnSpc>
                <a:spcPct val="115000"/>
              </a:lnSpc>
              <a:buNone/>
            </a:pPr>
            <a:r>
              <a:rPr lang="en-US" sz="1200" dirty="0">
                <a:solidFill>
                  <a:srgbClr val="16705F"/>
                </a:solidFill>
                <a:latin typeface="Calibri" pitchFamily="34" charset="0"/>
                <a:ea typeface="Calibri" pitchFamily="34" charset="-122"/>
                <a:cs typeface="Calibri" pitchFamily="34" charset="-120"/>
              </a:rPr>
              <a:t>runs the job</a:t>
            </a:r>
            <a:endParaRPr lang="en-US" sz="1200" dirty="0"/>
          </a:p>
        </p:txBody>
      </p:sp>
      <p:sp>
        <p:nvSpPr>
          <p:cNvPr id="39" name="Text 37"/>
          <p:cNvSpPr txBox="1"/>
          <p:nvPr/>
        </p:nvSpPr>
        <p:spPr>
          <a:xfrm>
            <a:off x="2203450" y="3987800"/>
            <a:ext cx="1524000" cy="254000"/>
          </a:xfrm>
          <a:prstGeom prst="rect">
            <a:avLst/>
          </a:prstGeom>
          <a:noFill/>
          <a:ln/>
        </p:spPr>
        <p:txBody>
          <a:bodyPr wrap="square" lIns="0" tIns="0" rIns="0" bIns="0" rtlCol="0" anchor="t"/>
          <a:lstStyle/>
          <a:p>
            <a:pPr algn="l" indent="0" marL="0">
              <a:lnSpc>
                <a:spcPct val="115000"/>
              </a:lnSpc>
              <a:buNone/>
            </a:pPr>
            <a:r>
              <a:rPr lang="en-US" sz="1200" dirty="0">
                <a:solidFill>
                  <a:srgbClr val="A86A12"/>
                </a:solidFill>
                <a:latin typeface="Calibri" pitchFamily="34" charset="0"/>
                <a:ea typeface="Calibri" pitchFamily="34" charset="-122"/>
                <a:cs typeface="Calibri" pitchFamily="34" charset="-120"/>
              </a:rPr>
              <a:t>usage feed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200" kern="0" dirty="0">
                <a:solidFill>
                  <a:schemeClr val="accent2"/>
                </a:solidFill>
              </a:rPr>
              <a:t>WORKING WITH UPSTREAM</a:t>
            </a:r>
            <a:endParaRPr lang="en-US" sz="1200" dirty="0"/>
          </a:p>
        </p:txBody>
      </p:sp>
      <p:sp>
        <p:nvSpPr>
          <p:cNvPr id="3" name="Text 0"/>
          <p:cNvSpPr/>
          <p:nvPr>
            <p:ph idx="101" type="title" hasCustomPrompt="1"/>
          </p:nvPr>
        </p:nvSpPr>
        <p:spPr>
          <a:xfrm>
            <a:off x="812800" y="1117600"/>
            <a:ext cx="10566400" cy="9525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What we found, filed and fixed</a:t>
            </a:r>
            <a:endParaRPr lang="en-US" sz="3200" dirty="0"/>
          </a:p>
        </p:txBody>
      </p:sp>
      <p:sp>
        <p:nvSpPr>
          <p:cNvPr id="4" name="upstream-1"/>
          <p:cNvSpPr/>
          <p:nvPr/>
        </p:nvSpPr>
        <p:spPr>
          <a:xfrm>
            <a:off x="812800" y="2032000"/>
            <a:ext cx="5181600" cy="1714500"/>
          </a:xfrm>
          <a:prstGeom prst="roundRect">
            <a:avLst>
              <a:gd name="adj" fmla="val 5867"/>
            </a:avLst>
          </a:prstGeom>
          <a:solidFill>
            <a:srgbClr val="FBFAF7"/>
          </a:solidFill>
          <a:ln w="9525">
            <a:solidFill>
              <a:srgbClr val="DDD8CC"/>
            </a:solidFill>
            <a:prstDash val="solid"/>
          </a:ln>
        </p:spPr>
      </p:sp>
      <p:sp>
        <p:nvSpPr>
          <p:cNvPr id="5" name="Text 3"/>
          <p:cNvSpPr txBox="1"/>
          <p:nvPr/>
        </p:nvSpPr>
        <p:spPr>
          <a:xfrm>
            <a:off x="1041400" y="2260600"/>
            <a:ext cx="4724400" cy="254000"/>
          </a:xfrm>
          <a:prstGeom prst="rect">
            <a:avLst/>
          </a:prstGeom>
          <a:noFill/>
          <a:ln/>
        </p:spPr>
        <p:txBody>
          <a:bodyPr wrap="square" lIns="0" tIns="0" rIns="0" bIns="0" rtlCol="0" anchor="t"/>
          <a:lstStyle/>
          <a:p>
            <a:pPr algn="l" indent="0" marL="0">
              <a:lnSpc>
                <a:spcPct val="115000"/>
              </a:lnSpc>
              <a:buNone/>
            </a:pPr>
            <a:r>
              <a:rPr lang="en-US" sz="1200" dirty="0">
                <a:solidFill>
                  <a:srgbClr val="16705F"/>
                </a:solidFill>
                <a:latin typeface="Courier New" pitchFamily="34" charset="0"/>
                <a:ea typeface="Courier New" pitchFamily="34" charset="-122"/>
                <a:cs typeface="Courier New" pitchFamily="34" charset="-120"/>
              </a:rPr>
              <a:t>livepeer/node #1 · fixed</a:t>
            </a:r>
            <a:endParaRPr lang="en-US" sz="1200" dirty="0"/>
          </a:p>
        </p:txBody>
      </p:sp>
      <p:sp>
        <p:nvSpPr>
          <p:cNvPr id="6" name="Text 4"/>
          <p:cNvSpPr txBox="1"/>
          <p:nvPr/>
        </p:nvSpPr>
        <p:spPr>
          <a:xfrm>
            <a:off x="1041400" y="2616200"/>
            <a:ext cx="4724400" cy="1016000"/>
          </a:xfrm>
          <a:prstGeom prst="rect">
            <a:avLst/>
          </a:prstGeom>
          <a:noFill/>
          <a:ln/>
        </p:spPr>
        <p:txBody>
          <a:bodyPr wrap="square" lIns="0" tIns="0" rIns="0" bIns="0" rtlCol="0" anchor="t"/>
          <a:lstStyle/>
          <a:p>
            <a:pPr algn="l" indent="0" marL="0">
              <a:lnSpc>
                <a:spcPct val="125000"/>
              </a:lnSpc>
              <a:buNone/>
            </a:pPr>
            <a:r>
              <a:rPr lang="en-US" sz="1500" dirty="0">
                <a:solidFill>
                  <a:srgbClr val="1B222C"/>
                </a:solidFill>
                <a:latin typeface="Calibri" pitchFamily="34" charset="0"/>
                <a:ea typeface="Calibri" pitchFamily="34" charset="-122"/>
                <a:cs typeface="Calibri" pitchFamily="34" charset="-120"/>
              </a:rPr>
              <a:t>The signer rejected orchestrators whose ticket recipient differs from their node address. Josh fixed it; it ships in node v1.0.2.</a:t>
            </a:r>
            <a:endParaRPr lang="en-US" sz="1500" dirty="0"/>
          </a:p>
        </p:txBody>
      </p:sp>
      <p:sp>
        <p:nvSpPr>
          <p:cNvPr id="7" name="upstream-2"/>
          <p:cNvSpPr/>
          <p:nvPr/>
        </p:nvSpPr>
        <p:spPr>
          <a:xfrm>
            <a:off x="6197600" y="2032000"/>
            <a:ext cx="5181600" cy="1714500"/>
          </a:xfrm>
          <a:prstGeom prst="roundRect">
            <a:avLst>
              <a:gd name="adj" fmla="val 5867"/>
            </a:avLst>
          </a:prstGeom>
          <a:solidFill>
            <a:srgbClr val="FBFAF7"/>
          </a:solidFill>
          <a:ln w="9525">
            <a:solidFill>
              <a:srgbClr val="DDD8CC"/>
            </a:solidFill>
            <a:prstDash val="solid"/>
          </a:ln>
        </p:spPr>
      </p:sp>
      <p:sp>
        <p:nvSpPr>
          <p:cNvPr id="8" name="Text 6"/>
          <p:cNvSpPr txBox="1"/>
          <p:nvPr/>
        </p:nvSpPr>
        <p:spPr>
          <a:xfrm>
            <a:off x="6426200" y="2260600"/>
            <a:ext cx="4724400" cy="254000"/>
          </a:xfrm>
          <a:prstGeom prst="rect">
            <a:avLst/>
          </a:prstGeom>
          <a:noFill/>
          <a:ln/>
        </p:spPr>
        <p:txBody>
          <a:bodyPr wrap="square" lIns="0" tIns="0" rIns="0" bIns="0" rtlCol="0" anchor="t"/>
          <a:lstStyle/>
          <a:p>
            <a:pPr algn="l" indent="0" marL="0">
              <a:lnSpc>
                <a:spcPct val="115000"/>
              </a:lnSpc>
              <a:buNone/>
            </a:pPr>
            <a:r>
              <a:rPr lang="en-US" sz="1200" dirty="0">
                <a:solidFill>
                  <a:srgbClr val="16705F"/>
                </a:solidFill>
                <a:latin typeface="Courier New" pitchFamily="34" charset="0"/>
                <a:ea typeface="Courier New" pitchFamily="34" charset="-122"/>
                <a:cs typeface="Courier New" pitchFamily="34" charset="-120"/>
              </a:rPr>
              <a:t>Python SDK #77 · in review</a:t>
            </a:r>
            <a:endParaRPr lang="en-US" sz="1200" dirty="0"/>
          </a:p>
        </p:txBody>
      </p:sp>
      <p:sp>
        <p:nvSpPr>
          <p:cNvPr id="9" name="Text 7"/>
          <p:cNvSpPr txBox="1"/>
          <p:nvPr/>
        </p:nvSpPr>
        <p:spPr>
          <a:xfrm>
            <a:off x="6426200" y="2616200"/>
            <a:ext cx="4724400" cy="1016000"/>
          </a:xfrm>
          <a:prstGeom prst="rect">
            <a:avLst/>
          </a:prstGeom>
          <a:noFill/>
          <a:ln/>
        </p:spPr>
        <p:txBody>
          <a:bodyPr wrap="square" lIns="0" tIns="0" rIns="0" bIns="0" rtlCol="0" anchor="t"/>
          <a:lstStyle/>
          <a:p>
            <a:pPr algn="l" indent="0" marL="0">
              <a:lnSpc>
                <a:spcPct val="125000"/>
              </a:lnSpc>
              <a:buNone/>
            </a:pPr>
            <a:r>
              <a:rPr lang="en-US" sz="1500" dirty="0">
                <a:solidFill>
                  <a:srgbClr val="1B222C"/>
                </a:solidFill>
                <a:latin typeface="Calibri" pitchFamily="34" charset="0"/>
                <a:ea typeface="Calibri" pitchFamily="34" charset="-122"/>
                <a:cs typeface="Calibri" pitchFamily="34" charset="-120"/>
              </a:rPr>
              <a:t>The SDK now reports each payment session it signs, so an app can see what every call cost, failed calls included.</a:t>
            </a:r>
            <a:endParaRPr lang="en-US" sz="1500" dirty="0"/>
          </a:p>
        </p:txBody>
      </p:sp>
      <p:sp>
        <p:nvSpPr>
          <p:cNvPr id="10" name="upstream-3"/>
          <p:cNvSpPr/>
          <p:nvPr/>
        </p:nvSpPr>
        <p:spPr>
          <a:xfrm>
            <a:off x="812800" y="3949700"/>
            <a:ext cx="5181600" cy="1714500"/>
          </a:xfrm>
          <a:prstGeom prst="roundRect">
            <a:avLst>
              <a:gd name="adj" fmla="val 5867"/>
            </a:avLst>
          </a:prstGeom>
          <a:solidFill>
            <a:srgbClr val="FBFAF7"/>
          </a:solidFill>
          <a:ln w="9525">
            <a:solidFill>
              <a:srgbClr val="DDD8CC"/>
            </a:solidFill>
            <a:prstDash val="solid"/>
          </a:ln>
        </p:spPr>
      </p:sp>
      <p:sp>
        <p:nvSpPr>
          <p:cNvPr id="11" name="Text 9"/>
          <p:cNvSpPr txBox="1"/>
          <p:nvPr/>
        </p:nvSpPr>
        <p:spPr>
          <a:xfrm>
            <a:off x="1041400" y="4178300"/>
            <a:ext cx="4724400" cy="254000"/>
          </a:xfrm>
          <a:prstGeom prst="rect">
            <a:avLst/>
          </a:prstGeom>
          <a:noFill/>
          <a:ln/>
        </p:spPr>
        <p:txBody>
          <a:bodyPr wrap="square" lIns="0" tIns="0" rIns="0" bIns="0" rtlCol="0" anchor="t"/>
          <a:lstStyle/>
          <a:p>
            <a:pPr algn="l" indent="0" marL="0">
              <a:lnSpc>
                <a:spcPct val="115000"/>
              </a:lnSpc>
              <a:buNone/>
            </a:pPr>
            <a:r>
              <a:rPr lang="en-US" sz="1200" dirty="0">
                <a:solidFill>
                  <a:srgbClr val="16705F"/>
                </a:solidFill>
                <a:latin typeface="Courier New" pitchFamily="34" charset="0"/>
                <a:ea typeface="Courier New" pitchFamily="34" charset="-122"/>
                <a:cs typeface="Courier New" pitchFamily="34" charset="-120"/>
              </a:rPr>
              <a:t>livepeer/node #2 · worked around</a:t>
            </a:r>
            <a:endParaRPr lang="en-US" sz="1200" dirty="0"/>
          </a:p>
        </p:txBody>
      </p:sp>
      <p:sp>
        <p:nvSpPr>
          <p:cNvPr id="12" name="Text 10"/>
          <p:cNvSpPr txBox="1"/>
          <p:nvPr/>
        </p:nvSpPr>
        <p:spPr>
          <a:xfrm>
            <a:off x="1041400" y="4533900"/>
            <a:ext cx="4724400" cy="1016000"/>
          </a:xfrm>
          <a:prstGeom prst="rect">
            <a:avLst/>
          </a:prstGeom>
          <a:noFill/>
          <a:ln/>
        </p:spPr>
        <p:txBody>
          <a:bodyPr wrap="square" lIns="0" tIns="0" rIns="0" bIns="0" rtlCol="0" anchor="t"/>
          <a:lstStyle/>
          <a:p>
            <a:pPr algn="l" indent="0" marL="0">
              <a:lnSpc>
                <a:spcPct val="125000"/>
              </a:lnSpc>
              <a:buNone/>
            </a:pPr>
            <a:r>
              <a:rPr lang="en-US" sz="1500" dirty="0">
                <a:solidFill>
                  <a:srgbClr val="1B222C"/>
                </a:solidFill>
                <a:latin typeface="Calibri" pitchFamily="34" charset="0"/>
                <a:ea typeface="Calibri" pitchFamily="34" charset="-122"/>
                <a:cs typeface="Calibri" pitchFamily="34" charset="-120"/>
              </a:rPr>
              <a:t>Orchestrators with self-signed certificates: we pin their certificates in our stack instead of disabling checks.</a:t>
            </a:r>
            <a:endParaRPr lang="en-US" sz="1500" dirty="0"/>
          </a:p>
        </p:txBody>
      </p:sp>
      <p:sp>
        <p:nvSpPr>
          <p:cNvPr id="13" name="upstream-4"/>
          <p:cNvSpPr/>
          <p:nvPr/>
        </p:nvSpPr>
        <p:spPr>
          <a:xfrm>
            <a:off x="6197600" y="3949700"/>
            <a:ext cx="5181600" cy="1714500"/>
          </a:xfrm>
          <a:prstGeom prst="roundRect">
            <a:avLst>
              <a:gd name="adj" fmla="val 5867"/>
            </a:avLst>
          </a:prstGeom>
          <a:solidFill>
            <a:srgbClr val="FBFAF7"/>
          </a:solidFill>
          <a:ln w="9525">
            <a:solidFill>
              <a:srgbClr val="DDD8CC"/>
            </a:solidFill>
            <a:prstDash val="solid"/>
          </a:ln>
        </p:spPr>
      </p:sp>
      <p:sp>
        <p:nvSpPr>
          <p:cNvPr id="14" name="Text 12"/>
          <p:cNvSpPr txBox="1"/>
          <p:nvPr/>
        </p:nvSpPr>
        <p:spPr>
          <a:xfrm>
            <a:off x="6426200" y="4178300"/>
            <a:ext cx="4724400" cy="254000"/>
          </a:xfrm>
          <a:prstGeom prst="rect">
            <a:avLst/>
          </a:prstGeom>
          <a:noFill/>
          <a:ln/>
        </p:spPr>
        <p:txBody>
          <a:bodyPr wrap="square" lIns="0" tIns="0" rIns="0" bIns="0" rtlCol="0" anchor="t"/>
          <a:lstStyle/>
          <a:p>
            <a:pPr algn="l" indent="0" marL="0">
              <a:lnSpc>
                <a:spcPct val="115000"/>
              </a:lnSpc>
              <a:buNone/>
            </a:pPr>
            <a:r>
              <a:rPr lang="en-US" sz="1200" dirty="0">
                <a:solidFill>
                  <a:srgbClr val="16705F"/>
                </a:solidFill>
                <a:latin typeface="Courier New" pitchFamily="34" charset="0"/>
                <a:ea typeface="Courier New" pitchFamily="34" charset="-122"/>
                <a:cs typeface="Courier New" pitchFamily="34" charset="-120"/>
              </a:rPr>
              <a:t>SDK #74 · changed on review</a:t>
            </a:r>
            <a:endParaRPr lang="en-US" sz="1200" dirty="0"/>
          </a:p>
        </p:txBody>
      </p:sp>
      <p:sp>
        <p:nvSpPr>
          <p:cNvPr id="15" name="Text 13"/>
          <p:cNvSpPr txBox="1"/>
          <p:nvPr/>
        </p:nvSpPr>
        <p:spPr>
          <a:xfrm>
            <a:off x="6426200" y="4533900"/>
            <a:ext cx="4724400" cy="1016000"/>
          </a:xfrm>
          <a:prstGeom prst="rect">
            <a:avLst/>
          </a:prstGeom>
          <a:noFill/>
          <a:ln/>
        </p:spPr>
        <p:txBody>
          <a:bodyPr wrap="square" lIns="0" tIns="0" rIns="0" bIns="0" rtlCol="0" anchor="t"/>
          <a:lstStyle/>
          <a:p>
            <a:pPr algn="l" indent="0" marL="0">
              <a:lnSpc>
                <a:spcPct val="125000"/>
              </a:lnSpc>
              <a:buNone/>
            </a:pPr>
            <a:r>
              <a:rPr lang="en-US" sz="1500" dirty="0">
                <a:solidFill>
                  <a:srgbClr val="1B222C"/>
                </a:solidFill>
                <a:latin typeface="Calibri" pitchFamily="34" charset="0"/>
                <a:ea typeface="Calibri" pitchFamily="34" charset="-122"/>
                <a:cs typeface="Calibri" pitchFamily="34" charset="-120"/>
              </a:rPr>
              <a:t>Josh asked us not to read the signer’s private state; we match charges by the session’s ManifestID instead.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200" kern="0" dirty="0">
                <a:solidFill>
                  <a:schemeClr val="accent2"/>
                </a:solidFill>
              </a:rPr>
              <a:t>WHERE IT LIVES</a:t>
            </a:r>
            <a:endParaRPr lang="en-US" sz="1200" dirty="0"/>
          </a:p>
        </p:txBody>
      </p:sp>
      <p:sp>
        <p:nvSpPr>
          <p:cNvPr id="3" name="Text 0"/>
          <p:cNvSpPr/>
          <p:nvPr>
            <p:ph idx="101" type="title" hasCustomPrompt="1"/>
          </p:nvPr>
        </p:nvSpPr>
        <p:spPr>
          <a:xfrm>
            <a:off x="812800" y="1117600"/>
            <a:ext cx="10566400" cy="9525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Repos and GitHub orgs</a:t>
            </a:r>
            <a:endParaRPr lang="en-US" sz="3200" dirty="0"/>
          </a:p>
        </p:txBody>
      </p:sp>
      <p:sp>
        <p:nvSpPr>
          <p:cNvPr id="4" name="org-ne-build-track"/>
          <p:cNvSpPr/>
          <p:nvPr/>
        </p:nvSpPr>
        <p:spPr>
          <a:xfrm>
            <a:off x="812800" y="2032000"/>
            <a:ext cx="6286500" cy="3302000"/>
          </a:xfrm>
          <a:prstGeom prst="roundRect">
            <a:avLst>
              <a:gd name="adj" fmla="val 3046"/>
            </a:avLst>
          </a:prstGeom>
          <a:solidFill>
            <a:srgbClr val="FBFAF7"/>
          </a:solidFill>
          <a:ln w="19050">
            <a:solidFill>
              <a:srgbClr val="16705F"/>
            </a:solidFill>
            <a:prstDash val="solid"/>
          </a:ln>
        </p:spPr>
      </p:sp>
      <p:sp>
        <p:nvSpPr>
          <p:cNvPr id="5" name="Text 3"/>
          <p:cNvSpPr txBox="1"/>
          <p:nvPr/>
        </p:nvSpPr>
        <p:spPr>
          <a:xfrm>
            <a:off x="1066800" y="2286000"/>
            <a:ext cx="5715000" cy="355600"/>
          </a:xfrm>
          <a:prstGeom prst="rect">
            <a:avLst/>
          </a:prstGeom>
          <a:noFill/>
          <a:ln/>
        </p:spPr>
        <p:txBody>
          <a:bodyPr wrap="square" lIns="0" tIns="0" rIns="0" bIns="0" rtlCol="0" anchor="t"/>
          <a:lstStyle/>
          <a:p>
            <a:pPr algn="l" indent="0" marL="0">
              <a:lnSpc>
                <a:spcPct val="115000"/>
              </a:lnSpc>
              <a:buNone/>
            </a:pPr>
            <a:r>
              <a:rPr lang="en-US" sz="2000" b="1" dirty="0">
                <a:solidFill>
                  <a:srgbClr val="1B222C"/>
                </a:solidFill>
                <a:latin typeface="Arial" pitchFamily="34" charset="0"/>
                <a:ea typeface="Arial" pitchFamily="34" charset="-122"/>
                <a:cs typeface="Arial" pitchFamily="34" charset="-120"/>
              </a:rPr>
              <a:t>NE-Build-Track</a:t>
            </a:r>
            <a:endParaRPr lang="en-US" sz="2000" dirty="0"/>
          </a:p>
        </p:txBody>
      </p:sp>
      <p:sp>
        <p:nvSpPr>
          <p:cNvPr id="6" name="Text 4"/>
          <p:cNvSpPr txBox="1"/>
          <p:nvPr/>
        </p:nvSpPr>
        <p:spPr>
          <a:xfrm>
            <a:off x="1066800" y="2667000"/>
            <a:ext cx="5715000" cy="279400"/>
          </a:xfrm>
          <a:prstGeom prst="rect">
            <a:avLst/>
          </a:prstGeom>
          <a:noFill/>
          <a:ln/>
        </p:spPr>
        <p:txBody>
          <a:bodyPr wrap="square" lIns="0" tIns="0" rIns="0" bIns="0" rtlCol="0" anchor="t"/>
          <a:lstStyle/>
          <a:p>
            <a:pPr algn="l" indent="0" marL="0">
              <a:lnSpc>
                <a:spcPct val="115000"/>
              </a:lnSpc>
              <a:buNone/>
            </a:pPr>
            <a:r>
              <a:rPr lang="en-US" sz="1400" dirty="0">
                <a:solidFill>
                  <a:srgbClr val="4A5463"/>
                </a:solidFill>
                <a:latin typeface="Calibri" pitchFamily="34" charset="0"/>
                <a:ea typeface="Calibri" pitchFamily="34" charset="-122"/>
                <a:cs typeface="Calibri" pitchFamily="34" charset="-120"/>
              </a:rPr>
              <a:t>The build track’s code. All public.</a:t>
            </a:r>
            <a:endParaRPr lang="en-US" sz="1400" dirty="0"/>
          </a:p>
        </p:txBody>
      </p:sp>
      <p:sp>
        <p:nvSpPr>
          <p:cNvPr id="7" name="Text 5"/>
          <p:cNvSpPr txBox="1"/>
          <p:nvPr/>
        </p:nvSpPr>
        <p:spPr>
          <a:xfrm>
            <a:off x="1066800" y="3175000"/>
            <a:ext cx="2730500" cy="254000"/>
          </a:xfrm>
          <a:prstGeom prst="rect">
            <a:avLst/>
          </a:prstGeom>
          <a:noFill/>
          <a:ln/>
        </p:spPr>
        <p:txBody>
          <a:bodyPr wrap="square" lIns="0" tIns="0" rIns="0" bIns="0" rtlCol="0" anchor="t"/>
          <a:lstStyle/>
          <a:p>
            <a:pPr algn="l" indent="0" marL="0">
              <a:lnSpc>
                <a:spcPct val="115000"/>
              </a:lnSpc>
              <a:buNone/>
            </a:pPr>
            <a:r>
              <a:rPr lang="en-US" sz="1300" b="1" dirty="0">
                <a:solidFill>
                  <a:srgbClr val="1B222C"/>
                </a:solidFill>
                <a:latin typeface="Calibri" pitchFamily="34" charset="0"/>
                <a:ea typeface="Calibri" pitchFamily="34" charset="-122"/>
                <a:cs typeface="Calibri" pitchFamily="34" charset="-120"/>
              </a:rPr>
              <a:t>Ours</a:t>
            </a:r>
            <a:endParaRPr lang="en-US" sz="1300" dirty="0"/>
          </a:p>
        </p:txBody>
      </p:sp>
      <p:sp>
        <p:nvSpPr>
          <p:cNvPr id="8" name="Text 6"/>
          <p:cNvSpPr txBox="1"/>
          <p:nvPr/>
        </p:nvSpPr>
        <p:spPr>
          <a:xfrm>
            <a:off x="1066800" y="3460750"/>
            <a:ext cx="2857500" cy="825500"/>
          </a:xfrm>
          <a:prstGeom prst="rect">
            <a:avLst/>
          </a:prstGeom>
          <a:noFill/>
          <a:ln/>
        </p:spPr>
        <p:txBody>
          <a:bodyPr wrap="square" lIns="0" tIns="0" rIns="0" bIns="0" rtlCol="0" anchor="t"/>
          <a:lstStyle/>
          <a:p>
            <a:pPr algn="l" indent="0" marL="0">
              <a:lnSpc>
                <a:spcPct val="150000"/>
              </a:lnSpc>
              <a:buNone/>
            </a:pPr>
            <a:r>
              <a:rPr lang="en-US" sz="1200" dirty="0">
                <a:solidFill>
                  <a:srgbClr val="16705F"/>
                </a:solidFill>
                <a:latin typeface="Courier New" pitchFamily="34" charset="0"/>
                <a:ea typeface="Courier New" pitchFamily="34" charset="-122"/>
                <a:cs typeface="Courier New" pitchFamily="34" charset="-120"/>
              </a:rPr>
              <a:t>livepeer-builder-core</a:t>
            </a:r>
            <a:endParaRPr lang="en-US" sz="1200" dirty="0"/>
          </a:p>
          <a:p>
            <a:pPr algn="l" indent="0" marL="0">
              <a:lnSpc>
                <a:spcPct val="150000"/>
              </a:lnSpc>
              <a:buNone/>
            </a:pPr>
            <a:r>
              <a:rPr lang="en-US" sz="1200" dirty="0">
                <a:solidFill>
                  <a:srgbClr val="16705F"/>
                </a:solidFill>
                <a:latin typeface="Courier New" pitchFamily="34" charset="0"/>
                <a:ea typeface="Courier New" pitchFamily="34" charset="-122"/>
                <a:cs typeface="Courier New" pitchFamily="34" charset="-120"/>
              </a:rPr>
              <a:t>enterprise-ui</a:t>
            </a:r>
            <a:endParaRPr lang="en-US" sz="1200" dirty="0"/>
          </a:p>
          <a:p>
            <a:pPr algn="l" indent="0" marL="0">
              <a:lnSpc>
                <a:spcPct val="150000"/>
              </a:lnSpc>
              <a:buNone/>
            </a:pPr>
            <a:r>
              <a:rPr lang="en-US" sz="1200" dirty="0">
                <a:solidFill>
                  <a:srgbClr val="16705F"/>
                </a:solidFill>
                <a:latin typeface="Courier New" pitchFamily="34" charset="0"/>
                <a:ea typeface="Courier New" pitchFamily="34" charset="-122"/>
                <a:cs typeface="Courier New" pitchFamily="34" charset="-120"/>
              </a:rPr>
              <a:t>chatlpt-sample-enterprise-app</a:t>
            </a:r>
            <a:endParaRPr lang="en-US" sz="1200" dirty="0"/>
          </a:p>
        </p:txBody>
      </p:sp>
      <p:sp>
        <p:nvSpPr>
          <p:cNvPr id="9" name="Text 7"/>
          <p:cNvSpPr txBox="1"/>
          <p:nvPr/>
        </p:nvSpPr>
        <p:spPr>
          <a:xfrm>
            <a:off x="1066800" y="4445000"/>
            <a:ext cx="2730500" cy="508000"/>
          </a:xfrm>
          <a:prstGeom prst="rect">
            <a:avLst/>
          </a:prstGeom>
          <a:noFill/>
          <a:ln/>
        </p:spPr>
        <p:txBody>
          <a:bodyPr wrap="square" lIns="0" tIns="0" rIns="0" bIns="0" rtlCol="0" anchor="t"/>
          <a:lstStyle/>
          <a:p>
            <a:pPr algn="l" indent="0" marL="0">
              <a:lnSpc>
                <a:spcPct val="115000"/>
              </a:lnSpc>
              <a:buNone/>
            </a:pPr>
            <a:r>
              <a:rPr lang="en-US" sz="1300" dirty="0">
                <a:solidFill>
                  <a:srgbClr val="4A5463"/>
                </a:solidFill>
                <a:latin typeface="Calibri" pitchFamily="34" charset="0"/>
                <a:ea typeface="Calibri" pitchFamily="34" charset="-122"/>
                <a:cs typeface="Calibri" pitchFamily="34" charset="-120"/>
              </a:rPr>
              <a:t>The engine, John’s desk, ChatLPT</a:t>
            </a:r>
            <a:endParaRPr lang="en-US" sz="1300" dirty="0"/>
          </a:p>
        </p:txBody>
      </p:sp>
      <p:sp>
        <p:nvSpPr>
          <p:cNvPr id="10" name="Text 8"/>
          <p:cNvSpPr txBox="1"/>
          <p:nvPr/>
        </p:nvSpPr>
        <p:spPr>
          <a:xfrm>
            <a:off x="4064000" y="3175000"/>
            <a:ext cx="2794000" cy="254000"/>
          </a:xfrm>
          <a:prstGeom prst="rect">
            <a:avLst/>
          </a:prstGeom>
          <a:noFill/>
          <a:ln/>
        </p:spPr>
        <p:txBody>
          <a:bodyPr wrap="square" lIns="0" tIns="0" rIns="0" bIns="0" rtlCol="0" anchor="t"/>
          <a:lstStyle/>
          <a:p>
            <a:pPr algn="l" indent="0" marL="0">
              <a:lnSpc>
                <a:spcPct val="115000"/>
              </a:lnSpc>
              <a:buNone/>
            </a:pPr>
            <a:r>
              <a:rPr lang="en-US" sz="1300" b="1" dirty="0">
                <a:solidFill>
                  <a:srgbClr val="1B222C"/>
                </a:solidFill>
                <a:latin typeface="Calibri" pitchFamily="34" charset="0"/>
                <a:ea typeface="Calibri" pitchFamily="34" charset="-122"/>
                <a:cs typeface="Calibri" pitchFamily="34" charset="-120"/>
              </a:rPr>
              <a:t>Forks of upstream</a:t>
            </a:r>
            <a:endParaRPr lang="en-US" sz="1300" dirty="0"/>
          </a:p>
        </p:txBody>
      </p:sp>
      <p:sp>
        <p:nvSpPr>
          <p:cNvPr id="11" name="Text 9"/>
          <p:cNvSpPr txBox="1"/>
          <p:nvPr/>
        </p:nvSpPr>
        <p:spPr>
          <a:xfrm>
            <a:off x="4064000" y="3460750"/>
            <a:ext cx="2794000" cy="825500"/>
          </a:xfrm>
          <a:prstGeom prst="rect">
            <a:avLst/>
          </a:prstGeom>
          <a:noFill/>
          <a:ln/>
        </p:spPr>
        <p:txBody>
          <a:bodyPr wrap="square" lIns="0" tIns="0" rIns="0" bIns="0" rtlCol="0" anchor="t"/>
          <a:lstStyle/>
          <a:p>
            <a:pPr algn="l" indent="0" marL="0">
              <a:lnSpc>
                <a:spcPct val="150000"/>
              </a:lnSpc>
              <a:buNone/>
            </a:pPr>
            <a:r>
              <a:rPr lang="en-US" sz="1200" dirty="0">
                <a:solidFill>
                  <a:srgbClr val="16705F"/>
                </a:solidFill>
                <a:latin typeface="Courier New" pitchFamily="34" charset="0"/>
                <a:ea typeface="Courier New" pitchFamily="34" charset="-122"/>
                <a:cs typeface="Courier New" pitchFamily="34" charset="-120"/>
              </a:rPr>
              <a:t>node</a:t>
            </a:r>
            <a:endParaRPr lang="en-US" sz="1200" dirty="0"/>
          </a:p>
          <a:p>
            <a:pPr algn="l" indent="0" marL="0">
              <a:lnSpc>
                <a:spcPct val="150000"/>
              </a:lnSpc>
              <a:buNone/>
            </a:pPr>
            <a:r>
              <a:rPr lang="en-US" sz="1200" dirty="0">
                <a:solidFill>
                  <a:srgbClr val="16705F"/>
                </a:solidFill>
                <a:latin typeface="Courier New" pitchFamily="34" charset="0"/>
                <a:ea typeface="Courier New" pitchFamily="34" charset="-122"/>
                <a:cs typeface="Courier New" pitchFamily="34" charset="-120"/>
              </a:rPr>
              <a:t>clearinghouse-batteries</a:t>
            </a:r>
            <a:endParaRPr lang="en-US" sz="1200" dirty="0"/>
          </a:p>
          <a:p>
            <a:pPr algn="l" indent="0" marL="0">
              <a:lnSpc>
                <a:spcPct val="150000"/>
              </a:lnSpc>
              <a:buNone/>
            </a:pPr>
            <a:r>
              <a:rPr lang="en-US" sz="1200" dirty="0">
                <a:solidFill>
                  <a:srgbClr val="16705F"/>
                </a:solidFill>
                <a:latin typeface="Courier New" pitchFamily="34" charset="0"/>
                <a:ea typeface="Courier New" pitchFamily="34" charset="-122"/>
                <a:cs typeface="Courier New" pitchFamily="34" charset="-120"/>
              </a:rPr>
              <a:t>livepeer-python-gateway</a:t>
            </a:r>
            <a:endParaRPr lang="en-US" sz="1200" dirty="0"/>
          </a:p>
        </p:txBody>
      </p:sp>
      <p:sp>
        <p:nvSpPr>
          <p:cNvPr id="12" name="Text 10"/>
          <p:cNvSpPr txBox="1"/>
          <p:nvPr/>
        </p:nvSpPr>
        <p:spPr>
          <a:xfrm>
            <a:off x="4064000" y="4445000"/>
            <a:ext cx="2794000" cy="508000"/>
          </a:xfrm>
          <a:prstGeom prst="rect">
            <a:avLst/>
          </a:prstGeom>
          <a:noFill/>
          <a:ln/>
        </p:spPr>
        <p:txBody>
          <a:bodyPr wrap="square" lIns="0" tIns="0" rIns="0" bIns="0" rtlCol="0" anchor="t"/>
          <a:lstStyle/>
          <a:p>
            <a:pPr algn="l" indent="0" marL="0">
              <a:lnSpc>
                <a:spcPct val="115000"/>
              </a:lnSpc>
              <a:buNone/>
            </a:pPr>
            <a:r>
              <a:rPr lang="en-US" sz="1300" dirty="0">
                <a:solidFill>
                  <a:srgbClr val="4A5463"/>
                </a:solidFill>
                <a:latin typeface="Calibri" pitchFamily="34" charset="0"/>
                <a:ea typeface="Calibri" pitchFamily="34" charset="-122"/>
                <a:cs typeface="Calibri" pitchFamily="34" charset="-120"/>
              </a:rPr>
              <a:t>Tagged build-track/v0.1.0 at the revisions we tested</a:t>
            </a:r>
            <a:endParaRPr lang="en-US" sz="1300" dirty="0"/>
          </a:p>
        </p:txBody>
      </p:sp>
      <p:sp>
        <p:nvSpPr>
          <p:cNvPr id="13" name="org-livepeer"/>
          <p:cNvSpPr/>
          <p:nvPr/>
        </p:nvSpPr>
        <p:spPr>
          <a:xfrm>
            <a:off x="7302500" y="2032000"/>
            <a:ext cx="4076700" cy="3302000"/>
          </a:xfrm>
          <a:prstGeom prst="roundRect">
            <a:avLst>
              <a:gd name="adj" fmla="val 3046"/>
            </a:avLst>
          </a:prstGeom>
          <a:solidFill>
            <a:srgbClr val="FBFAF7"/>
          </a:solidFill>
          <a:ln w="9525">
            <a:solidFill>
              <a:srgbClr val="DDD8CC"/>
            </a:solidFill>
            <a:prstDash val="solid"/>
          </a:ln>
        </p:spPr>
      </p:sp>
      <p:sp>
        <p:nvSpPr>
          <p:cNvPr id="14" name="Text 12"/>
          <p:cNvSpPr txBox="1"/>
          <p:nvPr/>
        </p:nvSpPr>
        <p:spPr>
          <a:xfrm>
            <a:off x="7556500" y="2286000"/>
            <a:ext cx="3556000" cy="355600"/>
          </a:xfrm>
          <a:prstGeom prst="rect">
            <a:avLst/>
          </a:prstGeom>
          <a:noFill/>
          <a:ln/>
        </p:spPr>
        <p:txBody>
          <a:bodyPr wrap="square" lIns="0" tIns="0" rIns="0" bIns="0" rtlCol="0" anchor="t"/>
          <a:lstStyle/>
          <a:p>
            <a:pPr algn="l" indent="0" marL="0">
              <a:lnSpc>
                <a:spcPct val="115000"/>
              </a:lnSpc>
              <a:buNone/>
            </a:pPr>
            <a:r>
              <a:rPr lang="en-US" sz="2000" b="1" dirty="0">
                <a:solidFill>
                  <a:srgbClr val="1B222C"/>
                </a:solidFill>
                <a:latin typeface="Arial" pitchFamily="34" charset="0"/>
                <a:ea typeface="Arial" pitchFamily="34" charset="-122"/>
                <a:cs typeface="Arial" pitchFamily="34" charset="-120"/>
              </a:rPr>
              <a:t>livepeer</a:t>
            </a:r>
            <a:endParaRPr lang="en-US" sz="2000" dirty="0"/>
          </a:p>
        </p:txBody>
      </p:sp>
      <p:sp>
        <p:nvSpPr>
          <p:cNvPr id="15" name="Text 13"/>
          <p:cNvSpPr txBox="1"/>
          <p:nvPr/>
        </p:nvSpPr>
        <p:spPr>
          <a:xfrm>
            <a:off x="7556500" y="2667000"/>
            <a:ext cx="3556000" cy="279400"/>
          </a:xfrm>
          <a:prstGeom prst="rect">
            <a:avLst/>
          </a:prstGeom>
          <a:noFill/>
          <a:ln/>
        </p:spPr>
        <p:txBody>
          <a:bodyPr wrap="square" lIns="0" tIns="0" rIns="0" bIns="0" rtlCol="0" anchor="t"/>
          <a:lstStyle/>
          <a:p>
            <a:pPr algn="l" indent="0" marL="0">
              <a:lnSpc>
                <a:spcPct val="115000"/>
              </a:lnSpc>
              <a:buNone/>
            </a:pPr>
            <a:r>
              <a:rPr lang="en-US" sz="1400" dirty="0">
                <a:solidFill>
                  <a:srgbClr val="4A5463"/>
                </a:solidFill>
                <a:latin typeface="Calibri" pitchFamily="34" charset="0"/>
                <a:ea typeface="Calibri" pitchFamily="34" charset="-122"/>
                <a:cs typeface="Calibri" pitchFamily="34" charset="-120"/>
              </a:rPr>
              <a:t>Upstream</a:t>
            </a:r>
            <a:endParaRPr lang="en-US" sz="1400" dirty="0"/>
          </a:p>
        </p:txBody>
      </p:sp>
      <p:sp>
        <p:nvSpPr>
          <p:cNvPr id="16" name="Text 14"/>
          <p:cNvSpPr txBox="1"/>
          <p:nvPr/>
        </p:nvSpPr>
        <p:spPr>
          <a:xfrm>
            <a:off x="7556500" y="3175000"/>
            <a:ext cx="3556000" cy="825500"/>
          </a:xfrm>
          <a:prstGeom prst="rect">
            <a:avLst/>
          </a:prstGeom>
          <a:noFill/>
          <a:ln/>
        </p:spPr>
        <p:txBody>
          <a:bodyPr wrap="square" lIns="0" tIns="0" rIns="0" bIns="0" rtlCol="0" anchor="t"/>
          <a:lstStyle/>
          <a:p>
            <a:pPr algn="l" indent="0" marL="0">
              <a:lnSpc>
                <a:spcPct val="150000"/>
              </a:lnSpc>
              <a:buNone/>
            </a:pPr>
            <a:r>
              <a:rPr lang="en-US" sz="1200" dirty="0">
                <a:solidFill>
                  <a:srgbClr val="16705F"/>
                </a:solidFill>
                <a:latin typeface="Courier New" pitchFamily="34" charset="0"/>
                <a:ea typeface="Courier New" pitchFamily="34" charset="-122"/>
                <a:cs typeface="Courier New" pitchFamily="34" charset="-120"/>
              </a:rPr>
              <a:t>node</a:t>
            </a:r>
            <a:endParaRPr lang="en-US" sz="1200" dirty="0"/>
          </a:p>
          <a:p>
            <a:pPr algn="l" indent="0" marL="0">
              <a:lnSpc>
                <a:spcPct val="150000"/>
              </a:lnSpc>
              <a:buNone/>
            </a:pPr>
            <a:r>
              <a:rPr lang="en-US" sz="1200" dirty="0">
                <a:solidFill>
                  <a:srgbClr val="16705F"/>
                </a:solidFill>
                <a:latin typeface="Courier New" pitchFamily="34" charset="0"/>
                <a:ea typeface="Courier New" pitchFamily="34" charset="-122"/>
                <a:cs typeface="Courier New" pitchFamily="34" charset="-120"/>
              </a:rPr>
              <a:t>clearinghouse-batteries</a:t>
            </a:r>
            <a:endParaRPr lang="en-US" sz="1200" dirty="0"/>
          </a:p>
          <a:p>
            <a:pPr algn="l" indent="0" marL="0">
              <a:lnSpc>
                <a:spcPct val="150000"/>
              </a:lnSpc>
              <a:buNone/>
            </a:pPr>
            <a:r>
              <a:rPr lang="en-US" sz="1200" dirty="0">
                <a:solidFill>
                  <a:srgbClr val="16705F"/>
                </a:solidFill>
                <a:latin typeface="Courier New" pitchFamily="34" charset="0"/>
                <a:ea typeface="Courier New" pitchFamily="34" charset="-122"/>
                <a:cs typeface="Courier New" pitchFamily="34" charset="-120"/>
              </a:rPr>
              <a:t>livepeer-python-gateway</a:t>
            </a:r>
            <a:endParaRPr lang="en-US" sz="1200" dirty="0"/>
          </a:p>
        </p:txBody>
      </p:sp>
      <p:sp>
        <p:nvSpPr>
          <p:cNvPr id="17" name="Text 15"/>
          <p:cNvSpPr txBox="1"/>
          <p:nvPr/>
        </p:nvSpPr>
        <p:spPr>
          <a:xfrm>
            <a:off x="7556500" y="4191000"/>
            <a:ext cx="3556000" cy="508000"/>
          </a:xfrm>
          <a:prstGeom prst="rect">
            <a:avLst/>
          </a:prstGeom>
          <a:noFill/>
          <a:ln/>
        </p:spPr>
        <p:txBody>
          <a:bodyPr wrap="square" lIns="0" tIns="0" rIns="0" bIns="0" rtlCol="0" anchor="t"/>
          <a:lstStyle/>
          <a:p>
            <a:pPr algn="l" indent="0" marL="0">
              <a:lnSpc>
                <a:spcPct val="115000"/>
              </a:lnSpc>
              <a:buNone/>
            </a:pPr>
            <a:r>
              <a:rPr lang="en-US" sz="1300" dirty="0">
                <a:solidFill>
                  <a:srgbClr val="4A5463"/>
                </a:solidFill>
                <a:latin typeface="Calibri" pitchFamily="34" charset="0"/>
                <a:ea typeface="Calibri" pitchFamily="34" charset="-122"/>
                <a:cs typeface="Calibri" pitchFamily="34" charset="-120"/>
              </a:rPr>
              <a:t>Where our fixes and requests land; the forks follow</a:t>
            </a:r>
            <a:endParaRPr lang="en-US" sz="1300" dirty="0"/>
          </a:p>
        </p:txBody>
      </p:sp>
      <p:sp>
        <p:nvSpPr>
          <p:cNvPr id="18" name="Text 16"/>
          <p:cNvSpPr txBox="1"/>
          <p:nvPr/>
        </p:nvSpPr>
        <p:spPr>
          <a:xfrm>
            <a:off x="812800" y="5588000"/>
            <a:ext cx="10566400" cy="279400"/>
          </a:xfrm>
          <a:prstGeom prst="rect">
            <a:avLst/>
          </a:prstGeom>
          <a:noFill/>
          <a:ln/>
        </p:spPr>
        <p:txBody>
          <a:bodyPr wrap="square" lIns="0" tIns="0" rIns="0" bIns="0" rtlCol="0" anchor="t"/>
          <a:lstStyle/>
          <a:p>
            <a:pPr algn="l" indent="0" marL="0">
              <a:lnSpc>
                <a:spcPct val="115000"/>
              </a:lnSpc>
              <a:buNone/>
            </a:pPr>
            <a:r>
              <a:rPr lang="en-US" sz="1400" dirty="0">
                <a:solidFill>
                  <a:srgbClr val="4A5463"/>
                </a:solidFill>
                <a:latin typeface="Calibri" pitchFamily="34" charset="0"/>
                <a:ea typeface="Calibri" pitchFamily="34" charset="-122"/>
                <a:cs typeface="Calibri" pitchFamily="34" charset="-120"/>
              </a:rPr>
              <a:t>Project board: </a:t>
            </a:r>
            <a:pPr algn="l" indent="0" marL="0">
              <a:lnSpc>
                <a:spcPct val="115000"/>
              </a:lnSpc>
              <a:buNone/>
            </a:pPr>
            <a:r>
              <a:rPr lang="en-US" sz="1400" u="sng" dirty="0">
                <a:solidFill>
                  <a:srgbClr val="16705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Cloud-SPE/projects/13</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200" kern="0" dirty="0">
                <a:solidFill>
                  <a:schemeClr val="accent2"/>
                </a:solidFill>
              </a:rPr>
              <a:t>NEXT · M3 BY 20 NOVEMBER</a:t>
            </a:r>
            <a:endParaRPr lang="en-US" sz="1200" dirty="0"/>
          </a:p>
        </p:txBody>
      </p:sp>
      <p:sp>
        <p:nvSpPr>
          <p:cNvPr id="3" name="Text 0"/>
          <p:cNvSpPr/>
          <p:nvPr>
            <p:ph idx="101" type="title" hasCustomPrompt="1"/>
          </p:nvPr>
        </p:nvSpPr>
        <p:spPr>
          <a:xfrm>
            <a:off x="812800" y="1117600"/>
            <a:ext cx="10566400" cy="9525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Complete builder journey</a:t>
            </a:r>
            <a:endParaRPr lang="en-US" sz="3200" dirty="0"/>
          </a:p>
        </p:txBody>
      </p:sp>
      <p:sp>
        <p:nvSpPr>
          <p:cNvPr id="4" name="Text 2"/>
          <p:cNvSpPr txBox="1"/>
          <p:nvPr/>
        </p:nvSpPr>
        <p:spPr>
          <a:xfrm>
            <a:off x="812800" y="1905000"/>
            <a:ext cx="9525000" cy="698500"/>
          </a:xfrm>
          <a:prstGeom prst="rect">
            <a:avLst/>
          </a:prstGeom>
          <a:noFill/>
          <a:ln/>
        </p:spPr>
        <p:txBody>
          <a:bodyPr wrap="square" lIns="0" tIns="0" rIns="0" bIns="0" rtlCol="0" anchor="t"/>
          <a:lstStyle/>
          <a:p>
            <a:pPr algn="l" indent="0" marL="0">
              <a:lnSpc>
                <a:spcPct val="125000"/>
              </a:lnSpc>
              <a:buNone/>
            </a:pPr>
            <a:r>
              <a:rPr lang="en-US" sz="1800" dirty="0">
                <a:solidFill>
                  <a:srgbClr val="4A5463"/>
                </a:solidFill>
                <a:latin typeface="Calibri" pitchFamily="34" charset="0"/>
                <a:ea typeface="Calibri" pitchFamily="34" charset="-122"/>
                <a:cs typeface="Calibri" pitchFamily="34" charset="-120"/>
              </a:rPr>
              <a:t>Gate: one app journey that shows all seven outcomes, with funded execution and network-cost evidence matched to each job.</a:t>
            </a:r>
            <a:endParaRPr lang="en-US" sz="1800" dirty="0"/>
          </a:p>
        </p:txBody>
      </p:sp>
      <p:sp>
        <p:nvSpPr>
          <p:cNvPr id="5" name="m3-rule-1"/>
          <p:cNvSpPr/>
          <p:nvPr/>
        </p:nvSpPr>
        <p:spPr>
          <a:xfrm>
            <a:off x="812800" y="2921000"/>
            <a:ext cx="5130800" cy="25400"/>
          </a:xfrm>
          <a:prstGeom prst="rect">
            <a:avLst/>
          </a:prstGeom>
          <a:solidFill>
            <a:srgbClr val="16705F"/>
          </a:solidFill>
          <a:ln/>
        </p:spPr>
      </p:sp>
      <p:sp>
        <p:nvSpPr>
          <p:cNvPr id="6" name="Text 4"/>
          <p:cNvSpPr txBox="1"/>
          <p:nvPr/>
        </p:nvSpPr>
        <p:spPr>
          <a:xfrm>
            <a:off x="812800" y="3111500"/>
            <a:ext cx="5130800" cy="355600"/>
          </a:xfrm>
          <a:prstGeom prst="rect">
            <a:avLst/>
          </a:prstGeom>
          <a:noFill/>
          <a:ln/>
        </p:spPr>
        <p:txBody>
          <a:bodyPr wrap="square" lIns="0" tIns="0" rIns="0" bIns="0" rtlCol="0" anchor="t"/>
          <a:lstStyle/>
          <a:p>
            <a:pPr algn="l" indent="0" marL="0">
              <a:lnSpc>
                <a:spcPct val="115000"/>
              </a:lnSpc>
              <a:buNone/>
            </a:pPr>
            <a:r>
              <a:rPr lang="en-US" sz="1800" b="1" dirty="0">
                <a:solidFill>
                  <a:srgbClr val="1B222C"/>
                </a:solidFill>
                <a:latin typeface="Arial" pitchFamily="34" charset="0"/>
                <a:ea typeface="Arial" pitchFamily="34" charset="-122"/>
                <a:cs typeface="Arial" pitchFamily="34" charset="-120"/>
              </a:rPr>
              <a:t>Already moving</a:t>
            </a:r>
            <a:endParaRPr lang="en-US" sz="1800" dirty="0"/>
          </a:p>
        </p:txBody>
      </p:sp>
      <p:sp>
        <p:nvSpPr>
          <p:cNvPr id="7" name="m3-list-1"/>
          <p:cNvSpPr txBox="1"/>
          <p:nvPr/>
        </p:nvSpPr>
        <p:spPr>
          <a:xfrm>
            <a:off x="812800" y="3556000"/>
            <a:ext cx="5130800" cy="1905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463"/>
                </a:solidFill>
                <a:latin typeface="Calibri" pitchFamily="34" charset="0"/>
                <a:ea typeface="Calibri" pitchFamily="34" charset="-122"/>
                <a:cs typeface="Calibri" pitchFamily="34" charset="-120"/>
              </a:rPr>
              <a:t>Streaming through the engine, in review</a:t>
            </a:r>
            <a:endParaRPr lang="en-US" sz="1400" dirty="0"/>
          </a:p>
          <a:p>
            <a:pPr marL="342900" indent="-342900">
              <a:spcAft>
                <a:spcPts val="800"/>
              </a:spcAft>
              <a:buSzPct val="100000"/>
              <a:buChar char="•"/>
            </a:pPr>
            <a:r>
              <a:rPr lang="en-US" sz="1400" dirty="0">
                <a:solidFill>
                  <a:srgbClr val="4A5463"/>
                </a:solidFill>
                <a:latin typeface="Calibri" pitchFamily="34" charset="0"/>
                <a:ea typeface="Calibri" pitchFamily="34" charset="-122"/>
                <a:cs typeface="Calibri" pitchFamily="34" charset="-120"/>
              </a:rPr>
              <a:t>Reference apps: ChatLPT and the enterprise desk</a:t>
            </a:r>
            <a:endParaRPr lang="en-US" sz="1400" dirty="0"/>
          </a:p>
          <a:p>
            <a:pPr marL="342900" indent="-342900">
              <a:spcAft>
                <a:spcPts val="800"/>
              </a:spcAft>
              <a:buSzPct val="100000"/>
              <a:buChar char="•"/>
            </a:pPr>
            <a:r>
              <a:rPr lang="en-US" sz="1400" dirty="0">
                <a:solidFill>
                  <a:srgbClr val="4A5463"/>
                </a:solidFill>
                <a:latin typeface="Calibri" pitchFamily="34" charset="0"/>
                <a:ea typeface="Calibri" pitchFamily="34" charset="-122"/>
                <a:cs typeface="Calibri" pitchFamily="34" charset="-120"/>
              </a:rPr>
              <a:t>Network cost read straight from the engine</a:t>
            </a:r>
            <a:endParaRPr lang="en-US" sz="1400" dirty="0"/>
          </a:p>
        </p:txBody>
      </p:sp>
      <p:sp>
        <p:nvSpPr>
          <p:cNvPr id="8" name="m3-rule-2"/>
          <p:cNvSpPr/>
          <p:nvPr/>
        </p:nvSpPr>
        <p:spPr>
          <a:xfrm>
            <a:off x="6248400" y="2921000"/>
            <a:ext cx="5130800" cy="25400"/>
          </a:xfrm>
          <a:prstGeom prst="rect">
            <a:avLst/>
          </a:prstGeom>
          <a:solidFill>
            <a:srgbClr val="A86A12"/>
          </a:solidFill>
          <a:ln/>
        </p:spPr>
      </p:sp>
      <p:sp>
        <p:nvSpPr>
          <p:cNvPr id="9" name="Text 7"/>
          <p:cNvSpPr txBox="1"/>
          <p:nvPr/>
        </p:nvSpPr>
        <p:spPr>
          <a:xfrm>
            <a:off x="6248400" y="3111500"/>
            <a:ext cx="5130800" cy="355600"/>
          </a:xfrm>
          <a:prstGeom prst="rect">
            <a:avLst/>
          </a:prstGeom>
          <a:noFill/>
          <a:ln/>
        </p:spPr>
        <p:txBody>
          <a:bodyPr wrap="square" lIns="0" tIns="0" rIns="0" bIns="0" rtlCol="0" anchor="t"/>
          <a:lstStyle/>
          <a:p>
            <a:pPr algn="l" indent="0" marL="0">
              <a:lnSpc>
                <a:spcPct val="115000"/>
              </a:lnSpc>
              <a:buNone/>
            </a:pPr>
            <a:r>
              <a:rPr lang="en-US" sz="1800" b="1" dirty="0">
                <a:solidFill>
                  <a:srgbClr val="1B222C"/>
                </a:solidFill>
                <a:latin typeface="Arial" pitchFamily="34" charset="0"/>
                <a:ea typeface="Arial" pitchFamily="34" charset="-122"/>
                <a:cs typeface="Arial" pitchFamily="34" charset="-120"/>
              </a:rPr>
              <a:t>Carried from M2</a:t>
            </a:r>
            <a:endParaRPr lang="en-US" sz="1800" dirty="0"/>
          </a:p>
        </p:txBody>
      </p:sp>
      <p:sp>
        <p:nvSpPr>
          <p:cNvPr id="10" name="m3-list-2"/>
          <p:cNvSpPr txBox="1"/>
          <p:nvPr/>
        </p:nvSpPr>
        <p:spPr>
          <a:xfrm>
            <a:off x="6248400" y="3556000"/>
            <a:ext cx="5130800" cy="1905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463"/>
                </a:solidFill>
                <a:latin typeface="Calibri" pitchFamily="34" charset="0"/>
                <a:ea typeface="Calibri" pitchFamily="34" charset="-122"/>
                <a:cs typeface="Calibri" pitchFamily="34" charset="-120"/>
              </a:rPr>
              <a:t>Final retry semantics for repeated commands</a:t>
            </a:r>
            <a:endParaRPr lang="en-US" sz="1400" dirty="0"/>
          </a:p>
          <a:p>
            <a:pPr marL="342900" indent="-342900">
              <a:spcAft>
                <a:spcPts val="800"/>
              </a:spcAft>
              <a:buSzPct val="100000"/>
              <a:buChar char="•"/>
            </a:pPr>
            <a:r>
              <a:rPr lang="en-US" sz="1400" dirty="0">
                <a:solidFill>
                  <a:srgbClr val="4A5463"/>
                </a:solidFill>
                <a:latin typeface="Calibri" pitchFamily="34" charset="0"/>
                <a:ea typeface="Calibri" pitchFamily="34" charset="-122"/>
                <a:cs typeface="Calibri" pitchFamily="34" charset="-120"/>
              </a:rPr>
              <a:t>SDK #77 merged upstream</a:t>
            </a:r>
            <a:endParaRPr lang="en-US" sz="1400" dirty="0"/>
          </a:p>
          <a:p>
            <a:pPr marL="342900" indent="-342900">
              <a:spcAft>
                <a:spcPts val="800"/>
              </a:spcAft>
              <a:buSzPct val="100000"/>
              <a:buChar char="•"/>
            </a:pPr>
            <a:r>
              <a:rPr lang="en-US" sz="1400" dirty="0">
                <a:solidFill>
                  <a:srgbClr val="4A5463"/>
                </a:solidFill>
                <a:latin typeface="Calibri" pitchFamily="34" charset="0"/>
                <a:ea typeface="Calibri" pitchFamily="34" charset="-122"/>
                <a:cs typeface="Calibri" pitchFamily="34" charset="-120"/>
              </a:rPr>
              <a:t>A payment reference callers own</a:t>
            </a:r>
            <a:endParaRPr lang="en-US" sz="1400" dirty="0"/>
          </a:p>
          <a:p>
            <a:pPr marL="342900" indent="-342900">
              <a:spcAft>
                <a:spcPts val="800"/>
              </a:spcAft>
              <a:buSzPct val="100000"/>
              <a:buChar char="•"/>
            </a:pPr>
            <a:r>
              <a:rPr lang="en-US" sz="1400" dirty="0">
                <a:solidFill>
                  <a:srgbClr val="4A5463"/>
                </a:solidFill>
                <a:latin typeface="Calibri" pitchFamily="34" charset="0"/>
                <a:ea typeface="Calibri" pitchFamily="34" charset="-122"/>
                <a:cs typeface="Calibri" pitchFamily="34" charset="-120"/>
              </a:rPr>
              <a:t>Forged-manifest and rejected-ticket cases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2800" y="812800"/>
            <a:ext cx="10566400" cy="279400"/>
          </a:xfrm>
          <a:prstGeom prst="rect">
            <a:avLst/>
          </a:prstGeom>
          <a:noFill/>
          <a:ln/>
        </p:spPr>
        <p:txBody>
          <a:bodyPr wrap="square" lIns="0" tIns="0" rIns="0" bIns="0" rtlCol="0" anchor="t"/>
          <a:lstStyle/>
          <a:p>
            <a:pPr algn="l" indent="0" marL="0">
              <a:lnSpc>
                <a:spcPct val="115000"/>
              </a:lnSpc>
              <a:buNone/>
            </a:pPr>
            <a:r>
              <a:rPr lang="en-US" sz="1400" spc="200" kern="0" dirty="0">
                <a:solidFill>
                  <a:srgbClr val="E2A23B"/>
                </a:solidFill>
                <a:latin typeface="Courier New" pitchFamily="34" charset="0"/>
                <a:ea typeface="Courier New" pitchFamily="34" charset="-122"/>
                <a:cs typeface="Courier New" pitchFamily="34" charset="-120"/>
              </a:rPr>
              <a:t>NETWORK ENGINEERING SPE · BUILD TRACK</a:t>
            </a:r>
            <a:endParaRPr lang="en-US" sz="1400" dirty="0"/>
          </a:p>
        </p:txBody>
      </p:sp>
      <p:sp>
        <p:nvSpPr>
          <p:cNvPr id="3" name="Text 1"/>
          <p:cNvSpPr txBox="1"/>
          <p:nvPr/>
        </p:nvSpPr>
        <p:spPr>
          <a:xfrm>
            <a:off x="812800" y="2667000"/>
            <a:ext cx="9525000" cy="825500"/>
          </a:xfrm>
          <a:prstGeom prst="rect">
            <a:avLst/>
          </a:prstGeom>
          <a:noFill/>
          <a:ln/>
        </p:spPr>
        <p:txBody>
          <a:bodyPr wrap="square" lIns="0" tIns="0" rIns="0" bIns="0" rtlCol="0" anchor="t"/>
          <a:lstStyle/>
          <a:p>
            <a:pPr algn="l" indent="0" marL="0">
              <a:lnSpc>
                <a:spcPct val="115000"/>
              </a:lnSpc>
              <a:buNone/>
            </a:pPr>
            <a:r>
              <a:rPr lang="en-US" sz="5600" b="1" dirty="0">
                <a:solidFill>
                  <a:srgbClr val="F2EFE8"/>
                </a:solidFill>
                <a:latin typeface="Arial" pitchFamily="34" charset="0"/>
                <a:ea typeface="Arial" pitchFamily="34" charset="-122"/>
                <a:cs typeface="Arial" pitchFamily="34" charset="-120"/>
              </a:rPr>
              <a:t>Questions</a:t>
            </a:r>
            <a:endParaRPr lang="en-US" sz="5600" dirty="0"/>
          </a:p>
        </p:txBody>
      </p:sp>
      <p:sp>
        <p:nvSpPr>
          <p:cNvPr id="4" name="Text 2"/>
          <p:cNvSpPr txBox="1"/>
          <p:nvPr/>
        </p:nvSpPr>
        <p:spPr>
          <a:xfrm>
            <a:off x="812800" y="3683000"/>
            <a:ext cx="8890000" cy="762000"/>
          </a:xfrm>
          <a:prstGeom prst="rect">
            <a:avLst/>
          </a:prstGeom>
          <a:noFill/>
          <a:ln/>
        </p:spPr>
        <p:txBody>
          <a:bodyPr wrap="square" lIns="0" tIns="0" rIns="0" bIns="0" rtlCol="0" anchor="t"/>
          <a:lstStyle/>
          <a:p>
            <a:pPr algn="l" indent="0" marL="0">
              <a:lnSpc>
                <a:spcPct val="115000"/>
              </a:lnSpc>
              <a:buNone/>
            </a:pPr>
            <a:r>
              <a:rPr lang="en-US" sz="2000" dirty="0">
                <a:solidFill>
                  <a:srgbClr val="B9C3CF"/>
                </a:solidFill>
                <a:latin typeface="Calibri" pitchFamily="34" charset="0"/>
                <a:ea typeface="Calibri" pitchFamily="34" charset="-122"/>
                <a:cs typeface="Calibri" pitchFamily="34" charset="-120"/>
              </a:rPr>
              <a:t>Thank you. The code, contracts and evidence are all in the NE-Build-Track organization on GitHub.</a:t>
            </a:r>
            <a:endParaRPr lang="en-US" sz="2000" dirty="0"/>
          </a:p>
        </p:txBody>
      </p:sp>
      <p:sp>
        <p:nvSpPr>
          <p:cNvPr id="5" name="Text 3"/>
          <p:cNvSpPr txBox="1"/>
          <p:nvPr/>
        </p:nvSpPr>
        <p:spPr>
          <a:xfrm>
            <a:off x="812800" y="5715000"/>
            <a:ext cx="5080000" cy="279400"/>
          </a:xfrm>
          <a:prstGeom prst="rect">
            <a:avLst/>
          </a:prstGeom>
          <a:noFill/>
          <a:ln/>
        </p:spPr>
        <p:txBody>
          <a:bodyPr wrap="square" lIns="0" tIns="0" rIns="0" bIns="0" rtlCol="0" anchor="t"/>
          <a:lstStyle/>
          <a:p>
            <a:pPr algn="l" indent="0" marL="0">
              <a:lnSpc>
                <a:spcPct val="115000"/>
              </a:lnSpc>
              <a:buNone/>
            </a:pPr>
            <a:r>
              <a:rPr lang="en-US" sz="1400" dirty="0">
                <a:solidFill>
                  <a:srgbClr val="4FD1B5"/>
                </a:solidFill>
                <a:latin typeface="Courier New" pitchFamily="34" charset="0"/>
                <a:ea typeface="Courier New" pitchFamily="34" charset="-122"/>
                <a:cs typeface="Courier New" pitchFamily="34" charset="-120"/>
              </a:rPr>
              <a:t>github.com/NE-Build-Track</a:t>
            </a:r>
            <a:endParaRPr lang="en-US" sz="1400" dirty="0"/>
          </a:p>
        </p:txBody>
      </p:sp>
      <p:sp>
        <p:nvSpPr>
          <p:cNvPr id="6" name="Text 4"/>
          <p:cNvSpPr txBox="1"/>
          <p:nvPr/>
        </p:nvSpPr>
        <p:spPr>
          <a:xfrm>
            <a:off x="6934200" y="5715000"/>
            <a:ext cx="4445000" cy="279400"/>
          </a:xfrm>
          <a:prstGeom prst="rect">
            <a:avLst/>
          </a:prstGeom>
          <a:noFill/>
          <a:ln/>
        </p:spPr>
        <p:txBody>
          <a:bodyPr wrap="square" lIns="0" tIns="0" rIns="0" bIns="0" rtlCol="0" anchor="t"/>
          <a:lstStyle/>
          <a:p>
            <a:pPr algn="r" indent="0" marL="0">
              <a:lnSpc>
                <a:spcPct val="115000"/>
              </a:lnSpc>
              <a:buNone/>
            </a:pPr>
            <a:r>
              <a:rPr lang="en-US" sz="1400" dirty="0">
                <a:solidFill>
                  <a:srgbClr val="B9C3CF"/>
                </a:solidFill>
                <a:latin typeface="Calibri" pitchFamily="34" charset="0"/>
                <a:ea typeface="Calibri" pitchFamily="34" charset="-122"/>
                <a:cs typeface="Calibri" pitchFamily="34" charset="-120"/>
              </a:rPr>
              <a:t>Network Engineering SPE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200" kern="0" dirty="0">
                <a:solidFill>
                  <a:schemeClr val="accent4"/>
                </a:solidFill>
              </a:rPr>
              <a:t>DEMOS</a:t>
            </a:r>
            <a:endParaRPr lang="en-US" sz="1200" dirty="0"/>
          </a:p>
        </p:txBody>
      </p:sp>
      <p:sp>
        <p:nvSpPr>
          <p:cNvPr id="3" name="Text 0"/>
          <p:cNvSpPr/>
          <p:nvPr>
            <p:ph idx="101" type="title" hasCustomPrompt="1"/>
          </p:nvPr>
        </p:nvSpPr>
        <p:spPr>
          <a:xfrm>
            <a:off x="812800" y="1117600"/>
            <a:ext cx="10566400" cy="95250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One engine, two ways to build on it</a:t>
            </a:r>
            <a:endParaRPr lang="en-US" sz="3200" dirty="0"/>
          </a:p>
        </p:txBody>
      </p:sp>
      <p:sp>
        <p:nvSpPr>
          <p:cNvPr id="4" name="demo-1"/>
          <p:cNvSpPr/>
          <p:nvPr/>
        </p:nvSpPr>
        <p:spPr>
          <a:xfrm>
            <a:off x="812800" y="2032000"/>
            <a:ext cx="5130800" cy="3556000"/>
          </a:xfrm>
          <a:prstGeom prst="roundRect">
            <a:avLst>
              <a:gd name="adj" fmla="val 2829"/>
            </a:avLst>
          </a:prstGeom>
          <a:solidFill>
            <a:srgbClr val="12594C"/>
          </a:solidFill>
          <a:ln/>
        </p:spPr>
      </p:sp>
      <p:sp>
        <p:nvSpPr>
          <p:cNvPr id="5" name="Text 3"/>
          <p:cNvSpPr txBox="1"/>
          <p:nvPr/>
        </p:nvSpPr>
        <p:spPr>
          <a:xfrm>
            <a:off x="1066800" y="2286000"/>
            <a:ext cx="4622800" cy="254000"/>
          </a:xfrm>
          <a:prstGeom prst="rect">
            <a:avLst/>
          </a:prstGeom>
          <a:noFill/>
          <a:ln/>
        </p:spPr>
        <p:txBody>
          <a:bodyPr wrap="square" lIns="0" tIns="0" rIns="0" bIns="0" rtlCol="0" anchor="t"/>
          <a:lstStyle/>
          <a:p>
            <a:pPr algn="l" indent="0" marL="0">
              <a:lnSpc>
                <a:spcPct val="115000"/>
              </a:lnSpc>
              <a:buNone/>
            </a:pPr>
            <a:r>
              <a:rPr lang="en-US" sz="1200" dirty="0">
                <a:solidFill>
                  <a:srgbClr val="F6D9A6"/>
                </a:solidFill>
                <a:latin typeface="Courier New" pitchFamily="34" charset="0"/>
                <a:ea typeface="Courier New" pitchFamily="34" charset="-122"/>
                <a:cs typeface="Courier New" pitchFamily="34" charset="-120"/>
              </a:rPr>
              <a:t>John · over REST</a:t>
            </a:r>
            <a:endParaRPr lang="en-US" sz="1200" dirty="0"/>
          </a:p>
        </p:txBody>
      </p:sp>
      <p:sp>
        <p:nvSpPr>
          <p:cNvPr id="6" name="Text 4"/>
          <p:cNvSpPr txBox="1"/>
          <p:nvPr/>
        </p:nvSpPr>
        <p:spPr>
          <a:xfrm>
            <a:off x="1066800" y="2616200"/>
            <a:ext cx="4622800" cy="406400"/>
          </a:xfrm>
          <a:prstGeom prst="rect">
            <a:avLst/>
          </a:prstGeom>
          <a:noFill/>
          <a:ln/>
        </p:spPr>
        <p:txBody>
          <a:bodyPr wrap="square" lIns="0" tIns="0" rIns="0" bIns="0" rtlCol="0" anchor="t"/>
          <a:lstStyle/>
          <a:p>
            <a:pPr algn="l" indent="0" marL="0">
              <a:lnSpc>
                <a:spcPct val="115000"/>
              </a:lnSpc>
              <a:buNone/>
            </a:pPr>
            <a:r>
              <a:rPr lang="en-US" sz="2200" b="1" dirty="0">
                <a:solidFill>
                  <a:srgbClr val="F2EFE8"/>
                </a:solidFill>
                <a:latin typeface="Arial" pitchFamily="34" charset="0"/>
                <a:ea typeface="Arial" pitchFamily="34" charset="-122"/>
                <a:cs typeface="Arial" pitchFamily="34" charset="-120"/>
              </a:rPr>
              <a:t>Enterprise desk</a:t>
            </a:r>
            <a:endParaRPr lang="en-US" sz="2200" dirty="0"/>
          </a:p>
        </p:txBody>
      </p:sp>
      <p:sp>
        <p:nvSpPr>
          <p:cNvPr id="7" name="demo-list-1"/>
          <p:cNvSpPr txBox="1"/>
          <p:nvPr/>
        </p:nvSpPr>
        <p:spPr>
          <a:xfrm>
            <a:off x="1066800" y="3175000"/>
            <a:ext cx="4622800" cy="1651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D7EEE8"/>
                </a:solidFill>
                <a:latin typeface="Calibri" pitchFamily="34" charset="0"/>
                <a:ea typeface="Calibri" pitchFamily="34" charset="-122"/>
                <a:cs typeface="Calibri" pitchFamily="34" charset="-120"/>
              </a:rPr>
              <a:t>Next.js app on the engine’s REST API</a:t>
            </a:r>
            <a:endParaRPr lang="en-US" sz="1400" dirty="0"/>
          </a:p>
          <a:p>
            <a:pPr marL="342900" indent="-342900">
              <a:spcAft>
                <a:spcPts val="800"/>
              </a:spcAft>
              <a:buSzPct val="100000"/>
              <a:buChar char="•"/>
            </a:pPr>
            <a:r>
              <a:rPr lang="en-US" sz="1400" dirty="0">
                <a:solidFill>
                  <a:srgbClr val="D7EEE8"/>
                </a:solidFill>
                <a:latin typeface="Calibri" pitchFamily="34" charset="0"/>
                <a:ea typeface="Calibri" pitchFamily="34" charset="-122"/>
                <a:cs typeface="Calibri" pitchFamily="34" charset="-120"/>
              </a:rPr>
              <a:t>Each actor signs in with its own engine key</a:t>
            </a:r>
            <a:endParaRPr lang="en-US" sz="1400" dirty="0"/>
          </a:p>
          <a:p>
            <a:pPr marL="342900" indent="-342900">
              <a:spcAft>
                <a:spcPts val="800"/>
              </a:spcAft>
              <a:buSzPct val="100000"/>
              <a:buChar char="•"/>
            </a:pPr>
            <a:r>
              <a:rPr lang="en-US" sz="1400" dirty="0">
                <a:solidFill>
                  <a:srgbClr val="D7EEE8"/>
                </a:solidFill>
                <a:latin typeface="Calibri" pitchFamily="34" charset="0"/>
                <a:ea typeface="Calibri" pitchFamily="34" charset="-122"/>
                <a:cs typeface="Calibri" pitchFamily="34" charset="-120"/>
              </a:rPr>
              <a:t>Operator funds actors from a grant</a:t>
            </a:r>
            <a:endParaRPr lang="en-US" sz="1400" dirty="0"/>
          </a:p>
          <a:p>
            <a:pPr marL="342900" indent="-342900">
              <a:spcAft>
                <a:spcPts val="800"/>
              </a:spcAft>
              <a:buSzPct val="100000"/>
              <a:buChar char="•"/>
            </a:pPr>
            <a:r>
              <a:rPr lang="en-US" sz="1400" dirty="0">
                <a:solidFill>
                  <a:srgbClr val="D7EEE8"/>
                </a:solidFill>
                <a:latin typeface="Calibri" pitchFamily="34" charset="0"/>
                <a:ea typeface="Calibri" pitchFamily="34" charset="-122"/>
                <a:cs typeface="Calibri" pitchFamily="34" charset="-120"/>
              </a:rPr>
              <a:t>Paid jobs, cost classes, reconciliation</a:t>
            </a:r>
            <a:endParaRPr lang="en-US" sz="1400" dirty="0"/>
          </a:p>
        </p:txBody>
      </p:sp>
      <p:sp>
        <p:nvSpPr>
          <p:cNvPr id="8" name="Text 6"/>
          <p:cNvSpPr txBox="1"/>
          <p:nvPr/>
        </p:nvSpPr>
        <p:spPr>
          <a:xfrm>
            <a:off x="1066800" y="5016500"/>
            <a:ext cx="4622800" cy="254000"/>
          </a:xfrm>
          <a:prstGeom prst="rect">
            <a:avLst/>
          </a:prstGeom>
          <a:noFill/>
          <a:ln/>
        </p:spPr>
        <p:txBody>
          <a:bodyPr wrap="square" lIns="0" tIns="0" rIns="0" bIns="0" rtlCol="0" anchor="t"/>
          <a:lstStyle/>
          <a:p>
            <a:pPr algn="l" indent="0" marL="0">
              <a:lnSpc>
                <a:spcPct val="115000"/>
              </a:lnSpc>
              <a:buNone/>
            </a:pPr>
            <a:r>
              <a:rPr lang="en-US" sz="1200" dirty="0">
                <a:solidFill>
                  <a:srgbClr val="D7EEE8"/>
                </a:solidFill>
                <a:latin typeface="Courier New" pitchFamily="34" charset="0"/>
                <a:ea typeface="Courier New" pitchFamily="34" charset="-122"/>
                <a:cs typeface="Courier New" pitchFamily="34" charset="-120"/>
              </a:rPr>
              <a:t>NE-Build-Track/enterprise-ui</a:t>
            </a:r>
            <a:endParaRPr lang="en-US" sz="1200" dirty="0"/>
          </a:p>
        </p:txBody>
      </p:sp>
      <p:sp>
        <p:nvSpPr>
          <p:cNvPr id="9" name="demo-2"/>
          <p:cNvSpPr/>
          <p:nvPr/>
        </p:nvSpPr>
        <p:spPr>
          <a:xfrm>
            <a:off x="6248400" y="2032000"/>
            <a:ext cx="5130800" cy="3556000"/>
          </a:xfrm>
          <a:prstGeom prst="roundRect">
            <a:avLst>
              <a:gd name="adj" fmla="val 2829"/>
            </a:avLst>
          </a:prstGeom>
          <a:solidFill>
            <a:srgbClr val="12594C"/>
          </a:solidFill>
          <a:ln/>
        </p:spPr>
      </p:sp>
      <p:sp>
        <p:nvSpPr>
          <p:cNvPr id="10" name="Text 8"/>
          <p:cNvSpPr txBox="1"/>
          <p:nvPr/>
        </p:nvSpPr>
        <p:spPr>
          <a:xfrm>
            <a:off x="6502400" y="2286000"/>
            <a:ext cx="4622800" cy="254000"/>
          </a:xfrm>
          <a:prstGeom prst="rect">
            <a:avLst/>
          </a:prstGeom>
          <a:noFill/>
          <a:ln/>
        </p:spPr>
        <p:txBody>
          <a:bodyPr wrap="square" lIns="0" tIns="0" rIns="0" bIns="0" rtlCol="0" anchor="t"/>
          <a:lstStyle/>
          <a:p>
            <a:pPr algn="l" indent="0" marL="0">
              <a:lnSpc>
                <a:spcPct val="115000"/>
              </a:lnSpc>
              <a:buNone/>
            </a:pPr>
            <a:r>
              <a:rPr lang="en-US" sz="1200" dirty="0">
                <a:solidFill>
                  <a:srgbClr val="F6D9A6"/>
                </a:solidFill>
                <a:latin typeface="Courier New" pitchFamily="34" charset="0"/>
                <a:ea typeface="Courier New" pitchFamily="34" charset="-122"/>
                <a:cs typeface="Courier New" pitchFamily="34" charset="-120"/>
              </a:rPr>
              <a:t>Mike · embedded</a:t>
            </a:r>
            <a:endParaRPr lang="en-US" sz="1200" dirty="0"/>
          </a:p>
        </p:txBody>
      </p:sp>
      <p:sp>
        <p:nvSpPr>
          <p:cNvPr id="11" name="Text 9"/>
          <p:cNvSpPr txBox="1"/>
          <p:nvPr/>
        </p:nvSpPr>
        <p:spPr>
          <a:xfrm>
            <a:off x="6502400" y="2616200"/>
            <a:ext cx="4622800" cy="406400"/>
          </a:xfrm>
          <a:prstGeom prst="rect">
            <a:avLst/>
          </a:prstGeom>
          <a:noFill/>
          <a:ln/>
        </p:spPr>
        <p:txBody>
          <a:bodyPr wrap="square" lIns="0" tIns="0" rIns="0" bIns="0" rtlCol="0" anchor="t"/>
          <a:lstStyle/>
          <a:p>
            <a:pPr algn="l" indent="0" marL="0">
              <a:lnSpc>
                <a:spcPct val="115000"/>
              </a:lnSpc>
              <a:buNone/>
            </a:pPr>
            <a:r>
              <a:rPr lang="en-US" sz="2200" b="1" dirty="0">
                <a:solidFill>
                  <a:srgbClr val="F2EFE8"/>
                </a:solidFill>
                <a:latin typeface="Arial" pitchFamily="34" charset="0"/>
                <a:ea typeface="Arial" pitchFamily="34" charset="-122"/>
                <a:cs typeface="Arial" pitchFamily="34" charset="-120"/>
              </a:rPr>
              <a:t>ChatLPT</a:t>
            </a:r>
            <a:endParaRPr lang="en-US" sz="2200" dirty="0"/>
          </a:p>
        </p:txBody>
      </p:sp>
      <p:sp>
        <p:nvSpPr>
          <p:cNvPr id="12" name="demo-list-2"/>
          <p:cNvSpPr txBox="1"/>
          <p:nvPr/>
        </p:nvSpPr>
        <p:spPr>
          <a:xfrm>
            <a:off x="6502400" y="3175000"/>
            <a:ext cx="4622800" cy="1651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D7EEE8"/>
                </a:solidFill>
                <a:latin typeface="Calibri" pitchFamily="34" charset="0"/>
                <a:ea typeface="Calibri" pitchFamily="34" charset="-122"/>
                <a:cs typeface="Calibri" pitchFamily="34" charset="-120"/>
              </a:rPr>
              <a:t>Chat app that imports the engine package</a:t>
            </a:r>
            <a:endParaRPr lang="en-US" sz="1400" dirty="0"/>
          </a:p>
          <a:p>
            <a:pPr marL="342900" indent="-342900">
              <a:spcAft>
                <a:spcPts val="800"/>
              </a:spcAft>
              <a:buSzPct val="100000"/>
              <a:buChar char="•"/>
            </a:pPr>
            <a:r>
              <a:rPr lang="en-US" sz="1400" dirty="0">
                <a:solidFill>
                  <a:srgbClr val="D7EEE8"/>
                </a:solidFill>
                <a:latin typeface="Calibri" pitchFamily="34" charset="0"/>
                <a:ea typeface="Calibri" pitchFamily="34" charset="-122"/>
                <a:cs typeface="Calibri" pitchFamily="34" charset="-120"/>
              </a:rPr>
              <a:t>Qwen3.8-27B replies, streamed as they arrive</a:t>
            </a:r>
            <a:endParaRPr lang="en-US" sz="1400" dirty="0"/>
          </a:p>
          <a:p>
            <a:pPr marL="342900" indent="-342900">
              <a:spcAft>
                <a:spcPts val="800"/>
              </a:spcAft>
              <a:buSzPct val="100000"/>
              <a:buChar char="•"/>
            </a:pPr>
            <a:r>
              <a:rPr lang="en-US" sz="1400" dirty="0">
                <a:solidFill>
                  <a:srgbClr val="D7EEE8"/>
                </a:solidFill>
                <a:latin typeface="Calibri" pitchFamily="34" charset="0"/>
                <a:ea typeface="Calibri" pitchFamily="34" charset="-122"/>
                <a:cs typeface="Calibri" pitchFamily="34" charset="-120"/>
              </a:rPr>
              <a:t>The model draws with FLUX schnell</a:t>
            </a:r>
            <a:endParaRPr lang="en-US" sz="1400" dirty="0"/>
          </a:p>
          <a:p>
            <a:pPr marL="342900" indent="-342900">
              <a:spcAft>
                <a:spcPts val="800"/>
              </a:spcAft>
              <a:buSzPct val="100000"/>
              <a:buChar char="•"/>
            </a:pPr>
            <a:r>
              <a:rPr lang="en-US" sz="1400" dirty="0">
                <a:solidFill>
                  <a:srgbClr val="D7EEE8"/>
                </a:solidFill>
                <a:latin typeface="Calibri" pitchFamily="34" charset="0"/>
                <a:ea typeface="Calibri" pitchFamily="34" charset="-122"/>
                <a:cs typeface="Calibri" pitchFamily="34" charset="-120"/>
              </a:rPr>
              <a:t>Retail price beside the network’s charge</a:t>
            </a:r>
            <a:endParaRPr lang="en-US" sz="1400" dirty="0"/>
          </a:p>
        </p:txBody>
      </p:sp>
      <p:sp>
        <p:nvSpPr>
          <p:cNvPr id="13" name="Text 11"/>
          <p:cNvSpPr txBox="1"/>
          <p:nvPr/>
        </p:nvSpPr>
        <p:spPr>
          <a:xfrm>
            <a:off x="6502400" y="5016500"/>
            <a:ext cx="4622800" cy="254000"/>
          </a:xfrm>
          <a:prstGeom prst="rect">
            <a:avLst/>
          </a:prstGeom>
          <a:noFill/>
          <a:ln/>
        </p:spPr>
        <p:txBody>
          <a:bodyPr wrap="square" lIns="0" tIns="0" rIns="0" bIns="0" rtlCol="0" anchor="t"/>
          <a:lstStyle/>
          <a:p>
            <a:pPr algn="l" indent="0" marL="0">
              <a:lnSpc>
                <a:spcPct val="115000"/>
              </a:lnSpc>
              <a:buNone/>
            </a:pPr>
            <a:r>
              <a:rPr lang="en-US" sz="1200" dirty="0">
                <a:solidFill>
                  <a:srgbClr val="D7EEE8"/>
                </a:solidFill>
                <a:latin typeface="Courier New" pitchFamily="34" charset="0"/>
                <a:ea typeface="Courier New" pitchFamily="34" charset="-122"/>
                <a:cs typeface="Courier New" pitchFamily="34" charset="-120"/>
              </a:rPr>
              <a:t>NE-Build-Track/chatlpt-sample-enterprise-app</a:t>
            </a:r>
            <a:endParaRPr lang="en-US" sz="1200" dirty="0"/>
          </a:p>
        </p:txBody>
      </p:sp>
    </p:spTree>
  </p:cSld>
  <p:clrMapOvr>
    <a:masterClrMapping/>
  </p:clrMapOvr>
</p:sld>
</file>

<file path=ppt/theme/theme1.xml><?xml version="1.0" encoding="utf-8"?>
<a:theme xmlns:a="http://schemas.openxmlformats.org/drawingml/2006/main" name="M2 Wrap">
  <a:themeElements>
    <a:clrScheme name="M2 Wrap">
      <a:dk1>
        <a:srgbClr val="1B222C"/>
      </a:dk1>
      <a:lt1>
        <a:srgbClr val="FBFAF7"/>
      </a:lt1>
      <a:dk2>
        <a:srgbClr val="121821"/>
      </a:dk2>
      <a:lt2>
        <a:srgbClr val="F5F3EE"/>
      </a:lt2>
      <a:accent1>
        <a:srgbClr val="16705F"/>
      </a:accent1>
      <a:accent2>
        <a:srgbClr val="A86A12"/>
      </a:accent2>
      <a:accent3>
        <a:srgbClr val="4FD1B5"/>
      </a:accent3>
      <a:accent4>
        <a:srgbClr val="E2A23B"/>
      </a:accent4>
      <a:accent5>
        <a:srgbClr val="4A5463"/>
      </a:accent5>
      <a:accent6>
        <a:srgbClr val="ECE9E1"/>
      </a:accent6>
      <a:hlink>
        <a:srgbClr val="16705F"/>
      </a:hlink>
      <a:folHlink>
        <a:srgbClr val="12594C"/>
      </a:folHlink>
    </a:clrScheme>
    <a:fontScheme name="M2 Wra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M2 Wrap Demo</dc:title>
  <dc:subject>PptxGenJS Presentation</dc:subject>
  <dc:creator>Mike Zupper</dc:creator>
  <cp:lastModifiedBy>Mike Zupper</cp:lastModifiedBy>
  <cp:revision>1</cp:revision>
  <dcterms:created xsi:type="dcterms:W3CDTF">2026-10-20T16:33:37Z</dcterms:created>
  <dcterms:modified xsi:type="dcterms:W3CDTF">2026-10-20T16:33:37Z</dcterms:modified>
</cp:coreProperties>
</file>